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670550" cx="10080625"/>
  <p:notesSz cx="7559675" cy="106918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regular.fntdata"/><Relationship Id="rId21" Type="http://schemas.openxmlformats.org/officeDocument/2006/relationships/slide" Target="slides/slide17.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25b4a7116a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125b4a7116a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319f527aa2_0_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1319f527aa2_0_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19f527aa2_0_3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1319f527aa2_0_3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19f527aa2_0_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1319f527aa2_0_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319f527aa2_0_2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1319f527aa2_0_2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19f527aa2_0_3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1319f527aa2_0_3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319f527aa2_0_4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1319f527aa2_0_4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31b517d529_0_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131b517d529_0_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1b517d529_0_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131b517d529_0_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1b517d529_0_1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131b517d529_0_1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1b517d529_0_1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131b517d529_0_1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1b517d529_0_2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131b517d529_0_2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1b517d529_0_3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131b517d529_0_3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1b517d529_0_4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131b517d529_0_4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1b517d529_0_4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131b517d529_0_4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8dbd1e04b_0_1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128dbd1e04b_0_1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43637" y="820871"/>
            <a:ext cx="9393300" cy="22629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700"/>
              <a:buChar char="●"/>
              <a:defRPr sz="5700"/>
            </a:lvl1pPr>
            <a:lvl2pPr lvl="1" algn="ctr">
              <a:spcBef>
                <a:spcPts val="0"/>
              </a:spcBef>
              <a:spcAft>
                <a:spcPts val="0"/>
              </a:spcAft>
              <a:buSzPts val="5700"/>
              <a:buChar char="○"/>
              <a:defRPr sz="5700"/>
            </a:lvl2pPr>
            <a:lvl3pPr lvl="2" algn="ctr">
              <a:spcBef>
                <a:spcPts val="0"/>
              </a:spcBef>
              <a:spcAft>
                <a:spcPts val="0"/>
              </a:spcAft>
              <a:buSzPts val="5700"/>
              <a:buChar char="■"/>
              <a:defRPr sz="5700"/>
            </a:lvl3pPr>
            <a:lvl4pPr lvl="3" algn="ctr">
              <a:spcBef>
                <a:spcPts val="0"/>
              </a:spcBef>
              <a:spcAft>
                <a:spcPts val="0"/>
              </a:spcAft>
              <a:buSzPts val="5700"/>
              <a:buChar char="●"/>
              <a:defRPr sz="5700"/>
            </a:lvl4pPr>
            <a:lvl5pPr lvl="4" algn="ctr">
              <a:spcBef>
                <a:spcPts val="0"/>
              </a:spcBef>
              <a:spcAft>
                <a:spcPts val="0"/>
              </a:spcAft>
              <a:buSzPts val="5700"/>
              <a:buChar char="○"/>
              <a:defRPr sz="5700"/>
            </a:lvl5pPr>
            <a:lvl6pPr lvl="5" algn="ctr">
              <a:spcBef>
                <a:spcPts val="0"/>
              </a:spcBef>
              <a:spcAft>
                <a:spcPts val="0"/>
              </a:spcAft>
              <a:buSzPts val="5700"/>
              <a:buChar char="■"/>
              <a:defRPr sz="5700"/>
            </a:lvl6pPr>
            <a:lvl7pPr lvl="6" algn="ctr">
              <a:spcBef>
                <a:spcPts val="0"/>
              </a:spcBef>
              <a:spcAft>
                <a:spcPts val="0"/>
              </a:spcAft>
              <a:buSzPts val="5700"/>
              <a:buChar char="●"/>
              <a:defRPr sz="5700"/>
            </a:lvl7pPr>
            <a:lvl8pPr lvl="7" algn="ctr">
              <a:spcBef>
                <a:spcPts val="0"/>
              </a:spcBef>
              <a:spcAft>
                <a:spcPts val="0"/>
              </a:spcAft>
              <a:buSzPts val="5700"/>
              <a:buChar char="○"/>
              <a:defRPr sz="5700"/>
            </a:lvl8pPr>
            <a:lvl9pPr lvl="8" algn="ctr">
              <a:spcBef>
                <a:spcPts val="0"/>
              </a:spcBef>
              <a:spcAft>
                <a:spcPts val="0"/>
              </a:spcAft>
              <a:buSzPts val="5700"/>
              <a:buChar char="■"/>
              <a:defRPr sz="5700"/>
            </a:lvl9pPr>
          </a:lstStyle>
          <a:p/>
        </p:txBody>
      </p:sp>
      <p:sp>
        <p:nvSpPr>
          <p:cNvPr id="13" name="Google Shape;13;p2"/>
          <p:cNvSpPr txBox="1"/>
          <p:nvPr>
            <p:ph idx="1" type="subTitle"/>
          </p:nvPr>
        </p:nvSpPr>
        <p:spPr>
          <a:xfrm>
            <a:off x="343628" y="3124535"/>
            <a:ext cx="9393300" cy="87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4" name="Google Shape;14;p2"/>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43628" y="2371246"/>
            <a:ext cx="9393300" cy="928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4000"/>
              <a:buChar char="●"/>
              <a:defRPr sz="4000"/>
            </a:lvl1pPr>
            <a:lvl2pPr lvl="1" algn="ctr">
              <a:spcBef>
                <a:spcPts val="0"/>
              </a:spcBef>
              <a:spcAft>
                <a:spcPts val="0"/>
              </a:spcAft>
              <a:buSzPts val="4000"/>
              <a:buChar char="○"/>
              <a:defRPr sz="4000"/>
            </a:lvl2pPr>
            <a:lvl3pPr lvl="2" algn="ctr">
              <a:spcBef>
                <a:spcPts val="0"/>
              </a:spcBef>
              <a:spcAft>
                <a:spcPts val="0"/>
              </a:spcAft>
              <a:buSzPts val="4000"/>
              <a:buChar char="■"/>
              <a:defRPr sz="4000"/>
            </a:lvl3pPr>
            <a:lvl4pPr lvl="3" algn="ctr">
              <a:spcBef>
                <a:spcPts val="0"/>
              </a:spcBef>
              <a:spcAft>
                <a:spcPts val="0"/>
              </a:spcAft>
              <a:buSzPts val="4000"/>
              <a:buChar char="●"/>
              <a:defRPr sz="4000"/>
            </a:lvl4pPr>
            <a:lvl5pPr lvl="4" algn="ctr">
              <a:spcBef>
                <a:spcPts val="0"/>
              </a:spcBef>
              <a:spcAft>
                <a:spcPts val="0"/>
              </a:spcAft>
              <a:buSzPts val="4000"/>
              <a:buChar char="○"/>
              <a:defRPr sz="4000"/>
            </a:lvl5pPr>
            <a:lvl6pPr lvl="5" algn="ctr">
              <a:spcBef>
                <a:spcPts val="0"/>
              </a:spcBef>
              <a:spcAft>
                <a:spcPts val="0"/>
              </a:spcAft>
              <a:buSzPts val="4000"/>
              <a:buChar char="■"/>
              <a:defRPr sz="4000"/>
            </a:lvl6pPr>
            <a:lvl7pPr lvl="6" algn="ctr">
              <a:spcBef>
                <a:spcPts val="0"/>
              </a:spcBef>
              <a:spcAft>
                <a:spcPts val="0"/>
              </a:spcAft>
              <a:buSzPts val="4000"/>
              <a:buChar char="●"/>
              <a:defRPr sz="4000"/>
            </a:lvl7pPr>
            <a:lvl8pPr lvl="7" algn="ctr">
              <a:spcBef>
                <a:spcPts val="0"/>
              </a:spcBef>
              <a:spcAft>
                <a:spcPts val="0"/>
              </a:spcAft>
              <a:buSzPts val="4000"/>
              <a:buChar char="○"/>
              <a:defRPr sz="4000"/>
            </a:lvl8pPr>
            <a:lvl9pPr lvl="8" algn="ctr">
              <a:spcBef>
                <a:spcPts val="0"/>
              </a:spcBef>
              <a:spcAft>
                <a:spcPts val="0"/>
              </a:spcAft>
              <a:buSzPts val="4000"/>
              <a:buChar char="■"/>
              <a:defRPr sz="4000"/>
            </a:lvl9pPr>
          </a:lstStyle>
          <a:p/>
        </p:txBody>
      </p:sp>
      <p:sp>
        <p:nvSpPr>
          <p:cNvPr id="17" name="Google Shape;17;p3"/>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 name="Google Shape;20;p4"/>
          <p:cNvSpPr txBox="1"/>
          <p:nvPr>
            <p:ph idx="1" type="body"/>
          </p:nvPr>
        </p:nvSpPr>
        <p:spPr>
          <a:xfrm>
            <a:off x="343665" y="1259443"/>
            <a:ext cx="9393300" cy="3766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4" name="Google Shape;24;p5"/>
          <p:cNvSpPr txBox="1"/>
          <p:nvPr>
            <p:ph idx="1" type="body"/>
          </p:nvPr>
        </p:nvSpPr>
        <p:spPr>
          <a:xfrm>
            <a:off x="343628" y="1270568"/>
            <a:ext cx="4409700" cy="37665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25" name="Google Shape;25;p5"/>
          <p:cNvSpPr txBox="1"/>
          <p:nvPr>
            <p:ph idx="2" type="body"/>
          </p:nvPr>
        </p:nvSpPr>
        <p:spPr>
          <a:xfrm>
            <a:off x="5327385" y="1270568"/>
            <a:ext cx="4409700" cy="37665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26" name="Google Shape;26;p5"/>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9" name="Google Shape;29;p6"/>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43628" y="612532"/>
            <a:ext cx="3095700" cy="833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600"/>
              <a:buChar char="●"/>
              <a:defRPr sz="2600"/>
            </a:lvl1pPr>
            <a:lvl2pPr lvl="1">
              <a:spcBef>
                <a:spcPts val="0"/>
              </a:spcBef>
              <a:spcAft>
                <a:spcPts val="0"/>
              </a:spcAft>
              <a:buSzPts val="2600"/>
              <a:buChar char="○"/>
              <a:defRPr sz="2600"/>
            </a:lvl2pPr>
            <a:lvl3pPr lvl="2">
              <a:spcBef>
                <a:spcPts val="0"/>
              </a:spcBef>
              <a:spcAft>
                <a:spcPts val="0"/>
              </a:spcAft>
              <a:buSzPts val="2600"/>
              <a:buChar char="■"/>
              <a:defRPr sz="2600"/>
            </a:lvl3pPr>
            <a:lvl4pPr lvl="3">
              <a:spcBef>
                <a:spcPts val="0"/>
              </a:spcBef>
              <a:spcAft>
                <a:spcPts val="0"/>
              </a:spcAft>
              <a:buSzPts val="2600"/>
              <a:buChar char="●"/>
              <a:defRPr sz="2600"/>
            </a:lvl4pPr>
            <a:lvl5pPr lvl="4">
              <a:spcBef>
                <a:spcPts val="0"/>
              </a:spcBef>
              <a:spcAft>
                <a:spcPts val="0"/>
              </a:spcAft>
              <a:buSzPts val="2600"/>
              <a:buChar char="○"/>
              <a:defRPr sz="2600"/>
            </a:lvl5pPr>
            <a:lvl6pPr lvl="5">
              <a:spcBef>
                <a:spcPts val="0"/>
              </a:spcBef>
              <a:spcAft>
                <a:spcPts val="0"/>
              </a:spcAft>
              <a:buSzPts val="2600"/>
              <a:buChar char="■"/>
              <a:defRPr sz="2600"/>
            </a:lvl6pPr>
            <a:lvl7pPr lvl="6">
              <a:spcBef>
                <a:spcPts val="0"/>
              </a:spcBef>
              <a:spcAft>
                <a:spcPts val="0"/>
              </a:spcAft>
              <a:buSzPts val="2600"/>
              <a:buChar char="●"/>
              <a:defRPr sz="2600"/>
            </a:lvl7pPr>
            <a:lvl8pPr lvl="7">
              <a:spcBef>
                <a:spcPts val="0"/>
              </a:spcBef>
              <a:spcAft>
                <a:spcPts val="0"/>
              </a:spcAft>
              <a:buSzPts val="2600"/>
              <a:buChar char="○"/>
              <a:defRPr sz="2600"/>
            </a:lvl8pPr>
            <a:lvl9pPr lvl="8">
              <a:spcBef>
                <a:spcPts val="0"/>
              </a:spcBef>
              <a:spcAft>
                <a:spcPts val="0"/>
              </a:spcAft>
              <a:buSzPts val="2600"/>
              <a:buChar char="■"/>
              <a:defRPr sz="2600"/>
            </a:lvl9pPr>
          </a:lstStyle>
          <a:p/>
        </p:txBody>
      </p:sp>
      <p:sp>
        <p:nvSpPr>
          <p:cNvPr id="32" name="Google Shape;32;p7"/>
          <p:cNvSpPr txBox="1"/>
          <p:nvPr>
            <p:ph idx="1" type="body"/>
          </p:nvPr>
        </p:nvSpPr>
        <p:spPr>
          <a:xfrm>
            <a:off x="343628" y="1531991"/>
            <a:ext cx="3095700" cy="3505200"/>
          </a:xfrm>
          <a:prstGeom prst="rect">
            <a:avLst/>
          </a:prstGeom>
          <a:noFill/>
          <a:ln>
            <a:noFill/>
          </a:ln>
        </p:spPr>
        <p:txBody>
          <a:bodyPr anchorCtr="0" anchor="ctr" bIns="91425" lIns="91425" spcFirstLastPara="1" rIns="91425" wrap="square" tIns="91425">
            <a:noAutofit/>
          </a:bodyPr>
          <a:lstStyle>
            <a:lvl1pPr indent="-311150" lvl="0" marL="457200">
              <a:spcBef>
                <a:spcPts val="0"/>
              </a:spcBef>
              <a:spcAft>
                <a:spcPts val="0"/>
              </a:spcAft>
              <a:buSzPts val="1300"/>
              <a:buChar char="●"/>
              <a:defRPr sz="13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33" name="Google Shape;33;p7"/>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540467" y="496276"/>
            <a:ext cx="7020000" cy="45099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5300"/>
              <a:buChar char="●"/>
              <a:defRPr sz="5300"/>
            </a:lvl1pPr>
            <a:lvl2pPr lvl="1">
              <a:spcBef>
                <a:spcPts val="0"/>
              </a:spcBef>
              <a:spcAft>
                <a:spcPts val="0"/>
              </a:spcAft>
              <a:buSzPts val="5300"/>
              <a:buChar char="○"/>
              <a:defRPr sz="5300"/>
            </a:lvl2pPr>
            <a:lvl3pPr lvl="2">
              <a:spcBef>
                <a:spcPts val="0"/>
              </a:spcBef>
              <a:spcAft>
                <a:spcPts val="0"/>
              </a:spcAft>
              <a:buSzPts val="5300"/>
              <a:buChar char="■"/>
              <a:defRPr sz="5300"/>
            </a:lvl3pPr>
            <a:lvl4pPr lvl="3">
              <a:spcBef>
                <a:spcPts val="0"/>
              </a:spcBef>
              <a:spcAft>
                <a:spcPts val="0"/>
              </a:spcAft>
              <a:buSzPts val="5300"/>
              <a:buChar char="●"/>
              <a:defRPr sz="5300"/>
            </a:lvl4pPr>
            <a:lvl5pPr lvl="4">
              <a:spcBef>
                <a:spcPts val="0"/>
              </a:spcBef>
              <a:spcAft>
                <a:spcPts val="0"/>
              </a:spcAft>
              <a:buSzPts val="5300"/>
              <a:buChar char="○"/>
              <a:defRPr sz="5300"/>
            </a:lvl5pPr>
            <a:lvl6pPr lvl="5">
              <a:spcBef>
                <a:spcPts val="0"/>
              </a:spcBef>
              <a:spcAft>
                <a:spcPts val="0"/>
              </a:spcAft>
              <a:buSzPts val="5300"/>
              <a:buChar char="■"/>
              <a:defRPr sz="5300"/>
            </a:lvl6pPr>
            <a:lvl7pPr lvl="6">
              <a:spcBef>
                <a:spcPts val="0"/>
              </a:spcBef>
              <a:spcAft>
                <a:spcPts val="0"/>
              </a:spcAft>
              <a:buSzPts val="5300"/>
              <a:buChar char="●"/>
              <a:defRPr sz="5300"/>
            </a:lvl7pPr>
            <a:lvl8pPr lvl="7">
              <a:spcBef>
                <a:spcPts val="0"/>
              </a:spcBef>
              <a:spcAft>
                <a:spcPts val="0"/>
              </a:spcAft>
              <a:buSzPts val="5300"/>
              <a:buChar char="○"/>
              <a:defRPr sz="5300"/>
            </a:lvl8pPr>
            <a:lvl9pPr lvl="8">
              <a:spcBef>
                <a:spcPts val="0"/>
              </a:spcBef>
              <a:spcAft>
                <a:spcPts val="0"/>
              </a:spcAft>
              <a:buSzPts val="5300"/>
              <a:buChar char="■"/>
              <a:defRPr sz="5300"/>
            </a:lvl9pPr>
          </a:lstStyle>
          <a:p/>
        </p:txBody>
      </p:sp>
      <p:sp>
        <p:nvSpPr>
          <p:cNvPr id="36" name="Google Shape;36;p8"/>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5040313" y="-138"/>
            <a:ext cx="5040300" cy="5670600"/>
          </a:xfrm>
          <a:prstGeom prst="rect">
            <a:avLst/>
          </a:prstGeom>
          <a:solidFill>
            <a:schemeClr val="lt2"/>
          </a:solidFill>
          <a:ln>
            <a:noFill/>
          </a:ln>
        </p:spPr>
        <p:txBody>
          <a:bodyPr anchorCtr="0" anchor="ctr" bIns="100800" lIns="100800" spcFirstLastPara="1" rIns="100800" wrap="square" tIns="100800">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92695" y="1359537"/>
            <a:ext cx="4459500" cy="16341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600"/>
              <a:buChar char="●"/>
              <a:defRPr sz="4600"/>
            </a:lvl1pPr>
            <a:lvl2pPr lvl="1" algn="ctr">
              <a:spcBef>
                <a:spcPts val="0"/>
              </a:spcBef>
              <a:spcAft>
                <a:spcPts val="0"/>
              </a:spcAft>
              <a:buSzPts val="4600"/>
              <a:buChar char="○"/>
              <a:defRPr sz="4600"/>
            </a:lvl2pPr>
            <a:lvl3pPr lvl="2" algn="ctr">
              <a:spcBef>
                <a:spcPts val="0"/>
              </a:spcBef>
              <a:spcAft>
                <a:spcPts val="0"/>
              </a:spcAft>
              <a:buSzPts val="4600"/>
              <a:buChar char="■"/>
              <a:defRPr sz="4600"/>
            </a:lvl3pPr>
            <a:lvl4pPr lvl="3" algn="ctr">
              <a:spcBef>
                <a:spcPts val="0"/>
              </a:spcBef>
              <a:spcAft>
                <a:spcPts val="0"/>
              </a:spcAft>
              <a:buSzPts val="4600"/>
              <a:buChar char="●"/>
              <a:defRPr sz="4600"/>
            </a:lvl4pPr>
            <a:lvl5pPr lvl="4" algn="ctr">
              <a:spcBef>
                <a:spcPts val="0"/>
              </a:spcBef>
              <a:spcAft>
                <a:spcPts val="0"/>
              </a:spcAft>
              <a:buSzPts val="4600"/>
              <a:buChar char="○"/>
              <a:defRPr sz="4600"/>
            </a:lvl5pPr>
            <a:lvl6pPr lvl="5" algn="ctr">
              <a:spcBef>
                <a:spcPts val="0"/>
              </a:spcBef>
              <a:spcAft>
                <a:spcPts val="0"/>
              </a:spcAft>
              <a:buSzPts val="4600"/>
              <a:buChar char="■"/>
              <a:defRPr sz="4600"/>
            </a:lvl6pPr>
            <a:lvl7pPr lvl="6" algn="ctr">
              <a:spcBef>
                <a:spcPts val="0"/>
              </a:spcBef>
              <a:spcAft>
                <a:spcPts val="0"/>
              </a:spcAft>
              <a:buSzPts val="4600"/>
              <a:buChar char="●"/>
              <a:defRPr sz="4600"/>
            </a:lvl7pPr>
            <a:lvl8pPr lvl="7" algn="ctr">
              <a:spcBef>
                <a:spcPts val="0"/>
              </a:spcBef>
              <a:spcAft>
                <a:spcPts val="0"/>
              </a:spcAft>
              <a:buSzPts val="4600"/>
              <a:buChar char="○"/>
              <a:defRPr sz="4600"/>
            </a:lvl8pPr>
            <a:lvl9pPr lvl="8" algn="ctr">
              <a:spcBef>
                <a:spcPts val="0"/>
              </a:spcBef>
              <a:spcAft>
                <a:spcPts val="0"/>
              </a:spcAft>
              <a:buSzPts val="4600"/>
              <a:buChar char="■"/>
              <a:defRPr sz="4600"/>
            </a:lvl9pPr>
          </a:lstStyle>
          <a:p/>
        </p:txBody>
      </p:sp>
      <p:sp>
        <p:nvSpPr>
          <p:cNvPr id="40" name="Google Shape;40;p9"/>
          <p:cNvSpPr txBox="1"/>
          <p:nvPr>
            <p:ph idx="1" type="subTitle"/>
          </p:nvPr>
        </p:nvSpPr>
        <p:spPr>
          <a:xfrm>
            <a:off x="292695" y="3090304"/>
            <a:ext cx="4459500" cy="1361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41" name="Google Shape;41;p9"/>
          <p:cNvSpPr txBox="1"/>
          <p:nvPr>
            <p:ph idx="2" type="body"/>
          </p:nvPr>
        </p:nvSpPr>
        <p:spPr>
          <a:xfrm>
            <a:off x="5445456" y="798270"/>
            <a:ext cx="4230000" cy="40737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43628" y="4664078"/>
            <a:ext cx="6613200" cy="6672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45" name="Google Shape;45;p10"/>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43628" y="1219469"/>
            <a:ext cx="9393300" cy="2164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3200"/>
              <a:buChar char="●"/>
              <a:defRPr sz="13200"/>
            </a:lvl1pPr>
            <a:lvl2pPr lvl="1" algn="ctr">
              <a:spcBef>
                <a:spcPts val="0"/>
              </a:spcBef>
              <a:spcAft>
                <a:spcPts val="0"/>
              </a:spcAft>
              <a:buSzPts val="13200"/>
              <a:buChar char="○"/>
              <a:defRPr sz="13200"/>
            </a:lvl2pPr>
            <a:lvl3pPr lvl="2" algn="ctr">
              <a:spcBef>
                <a:spcPts val="0"/>
              </a:spcBef>
              <a:spcAft>
                <a:spcPts val="0"/>
              </a:spcAft>
              <a:buSzPts val="13200"/>
              <a:buChar char="■"/>
              <a:defRPr sz="13200"/>
            </a:lvl3pPr>
            <a:lvl4pPr lvl="3" algn="ctr">
              <a:spcBef>
                <a:spcPts val="0"/>
              </a:spcBef>
              <a:spcAft>
                <a:spcPts val="0"/>
              </a:spcAft>
              <a:buSzPts val="13200"/>
              <a:buChar char="●"/>
              <a:defRPr sz="13200"/>
            </a:lvl4pPr>
            <a:lvl5pPr lvl="4" algn="ctr">
              <a:spcBef>
                <a:spcPts val="0"/>
              </a:spcBef>
              <a:spcAft>
                <a:spcPts val="0"/>
              </a:spcAft>
              <a:buSzPts val="13200"/>
              <a:buChar char="○"/>
              <a:defRPr sz="13200"/>
            </a:lvl5pPr>
            <a:lvl6pPr lvl="5" algn="ctr">
              <a:spcBef>
                <a:spcPts val="0"/>
              </a:spcBef>
              <a:spcAft>
                <a:spcPts val="0"/>
              </a:spcAft>
              <a:buSzPts val="13200"/>
              <a:buChar char="■"/>
              <a:defRPr sz="13200"/>
            </a:lvl6pPr>
            <a:lvl7pPr lvl="6" algn="ctr">
              <a:spcBef>
                <a:spcPts val="0"/>
              </a:spcBef>
              <a:spcAft>
                <a:spcPts val="0"/>
              </a:spcAft>
              <a:buSzPts val="13200"/>
              <a:buChar char="●"/>
              <a:defRPr sz="13200"/>
            </a:lvl7pPr>
            <a:lvl8pPr lvl="7" algn="ctr">
              <a:spcBef>
                <a:spcPts val="0"/>
              </a:spcBef>
              <a:spcAft>
                <a:spcPts val="0"/>
              </a:spcAft>
              <a:buSzPts val="13200"/>
              <a:buChar char="○"/>
              <a:defRPr sz="13200"/>
            </a:lvl8pPr>
            <a:lvl9pPr lvl="8" algn="ctr">
              <a:spcBef>
                <a:spcPts val="0"/>
              </a:spcBef>
              <a:spcAft>
                <a:spcPts val="0"/>
              </a:spcAft>
              <a:buSzPts val="13200"/>
              <a:buChar char="■"/>
              <a:defRPr sz="13200"/>
            </a:lvl9pPr>
          </a:lstStyle>
          <a:p>
            <a:r>
              <a:t>xx%</a:t>
            </a:r>
          </a:p>
        </p:txBody>
      </p:sp>
      <p:sp>
        <p:nvSpPr>
          <p:cNvPr id="48" name="Google Shape;48;p11"/>
          <p:cNvSpPr txBox="1"/>
          <p:nvPr>
            <p:ph idx="1" type="body"/>
          </p:nvPr>
        </p:nvSpPr>
        <p:spPr>
          <a:xfrm>
            <a:off x="343628" y="3475231"/>
            <a:ext cx="9393300" cy="14340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3" name="Shape 53"/>
        <p:cNvGrpSpPr/>
        <p:nvPr/>
      </p:nvGrpSpPr>
      <p:grpSpPr>
        <a:xfrm>
          <a:off x="0" y="0"/>
          <a:ext cx="0" cy="0"/>
          <a:chOff x="0" y="0"/>
          <a:chExt cx="0" cy="0"/>
        </a:xfrm>
      </p:grpSpPr>
      <p:sp>
        <p:nvSpPr>
          <p:cNvPr id="54" name="Google Shape;54;p14"/>
          <p:cNvSpPr txBox="1"/>
          <p:nvPr>
            <p:ph type="title"/>
          </p:nvPr>
        </p:nvSpPr>
        <p:spPr>
          <a:xfrm>
            <a:off x="504000" y="565560"/>
            <a:ext cx="9071700" cy="9465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 name="Google Shape;55;p14"/>
          <p:cNvSpPr txBox="1"/>
          <p:nvPr>
            <p:ph idx="1" type="body"/>
          </p:nvPr>
        </p:nvSpPr>
        <p:spPr>
          <a:xfrm>
            <a:off x="504000" y="1656000"/>
            <a:ext cx="9071700" cy="2958900"/>
          </a:xfrm>
          <a:prstGeom prst="rect">
            <a:avLst/>
          </a:prstGeom>
          <a:noFill/>
          <a:ln>
            <a:noFill/>
          </a:ln>
        </p:spPr>
        <p:txBody>
          <a:bodyPr anchorCtr="0" anchor="t" bIns="0" lIns="0" spcFirstLastPara="1" rIns="0" wrap="square" tIns="0">
            <a:normAutofit/>
          </a:bodyPr>
          <a:lstStyle>
            <a:lvl1pPr indent="-228600" lvl="0" marL="457200" rtl="0" algn="l">
              <a:spcBef>
                <a:spcPts val="0"/>
              </a:spcBef>
              <a:spcAft>
                <a:spcPts val="0"/>
              </a:spcAft>
              <a:buSzPts val="1400"/>
              <a:buNone/>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lvl="0" algn="r">
              <a:buNone/>
              <a:defRPr sz="1100">
                <a:solidFill>
                  <a:schemeClr val="dk2"/>
                </a:solidFill>
              </a:defRPr>
            </a:lvl1pPr>
            <a:lvl2pPr lvl="1" algn="r">
              <a:buNone/>
              <a:defRPr sz="1100">
                <a:solidFill>
                  <a:schemeClr val="dk2"/>
                </a:solidFill>
              </a:defRPr>
            </a:lvl2pPr>
            <a:lvl3pPr lvl="2" algn="r">
              <a:buNone/>
              <a:defRPr sz="1100">
                <a:solidFill>
                  <a:schemeClr val="dk2"/>
                </a:solidFill>
              </a:defRPr>
            </a:lvl3pPr>
            <a:lvl4pPr lvl="3" algn="r">
              <a:buNone/>
              <a:defRPr sz="1100">
                <a:solidFill>
                  <a:schemeClr val="dk2"/>
                </a:solidFill>
              </a:defRPr>
            </a:lvl4pPr>
            <a:lvl5pPr lvl="4" algn="r">
              <a:buNone/>
              <a:defRPr sz="1100">
                <a:solidFill>
                  <a:schemeClr val="dk2"/>
                </a:solidFill>
              </a:defRPr>
            </a:lvl5pPr>
            <a:lvl6pPr lvl="5" algn="r">
              <a:buNone/>
              <a:defRPr sz="1100">
                <a:solidFill>
                  <a:schemeClr val="dk2"/>
                </a:solidFill>
              </a:defRPr>
            </a:lvl6pPr>
            <a:lvl7pPr lvl="6" algn="r">
              <a:buNone/>
              <a:defRPr sz="1100">
                <a:solidFill>
                  <a:schemeClr val="dk2"/>
                </a:solidFill>
              </a:defRPr>
            </a:lvl7pPr>
            <a:lvl8pPr lvl="7" algn="r">
              <a:buNone/>
              <a:defRPr sz="1100">
                <a:solidFill>
                  <a:schemeClr val="dk2"/>
                </a:solidFill>
              </a:defRPr>
            </a:lvl8pPr>
            <a:lvl9pPr lvl="8" algn="r">
              <a:buNone/>
              <a:defRPr sz="1100">
                <a:solidFill>
                  <a:schemeClr val="dk2"/>
                </a:solidFill>
              </a:defRPr>
            </a:lvl9pPr>
          </a:lstStyle>
          <a:p>
            <a:pPr indent="0" lvl="0" marL="0" rtl="0" algn="r">
              <a:spcBef>
                <a:spcPts val="0"/>
              </a:spcBef>
              <a:spcAft>
                <a:spcPts val="0"/>
              </a:spcAft>
              <a:buNone/>
            </a:pPr>
            <a:fld id="{00000000-1234-1234-1234-123412341234}" type="slidenum">
              <a:rPr lang="es-AR"/>
              <a:t>‹#›</a:t>
            </a:fld>
            <a:endParaRPr/>
          </a:p>
        </p:txBody>
      </p:sp>
      <p:sp>
        <p:nvSpPr>
          <p:cNvPr id="7" name="Google Shape;7;p1"/>
          <p:cNvSpPr/>
          <p:nvPr/>
        </p:nvSpPr>
        <p:spPr>
          <a:xfrm>
            <a:off x="0" y="5264243"/>
            <a:ext cx="10080600" cy="406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 name="Google Shape;8;p1"/>
          <p:cNvPicPr preferRelativeResize="0"/>
          <p:nvPr/>
        </p:nvPicPr>
        <p:blipFill rotWithShape="1">
          <a:blip r:embed="rId1">
            <a:alphaModFix/>
          </a:blip>
          <a:srcRect b="12732" l="70187" r="0" t="0"/>
          <a:stretch/>
        </p:blipFill>
        <p:spPr>
          <a:xfrm>
            <a:off x="8361770" y="178619"/>
            <a:ext cx="1527612" cy="353874"/>
          </a:xfrm>
          <a:prstGeom prst="rect">
            <a:avLst/>
          </a:prstGeom>
          <a:noFill/>
          <a:ln>
            <a:noFill/>
          </a:ln>
        </p:spPr>
      </p:pic>
      <p:sp>
        <p:nvSpPr>
          <p:cNvPr id="9" name="Google Shape;9;p1"/>
          <p:cNvSpPr txBox="1"/>
          <p:nvPr/>
        </p:nvSpPr>
        <p:spPr>
          <a:xfrm>
            <a:off x="160707" y="152375"/>
            <a:ext cx="4463100" cy="40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AR" sz="1200" u="none" cap="none" strike="noStrike">
                <a:solidFill>
                  <a:srgbClr val="000000"/>
                </a:solidFill>
                <a:latin typeface="Roboto"/>
                <a:ea typeface="Roboto"/>
                <a:cs typeface="Roboto"/>
                <a:sym typeface="Roboto"/>
              </a:rPr>
              <a:t>DSW - Tecnología de la Información</a:t>
            </a:r>
            <a:endParaRPr sz="1200">
              <a:latin typeface="Roboto"/>
              <a:ea typeface="Roboto"/>
              <a:cs typeface="Roboto"/>
              <a:sym typeface="Roboto"/>
            </a:endParaRPr>
          </a:p>
        </p:txBody>
      </p:sp>
      <p:sp>
        <p:nvSpPr>
          <p:cNvPr id="10" name="Google Shape;10;p1"/>
          <p:cNvSpPr txBox="1"/>
          <p:nvPr/>
        </p:nvSpPr>
        <p:spPr>
          <a:xfrm>
            <a:off x="288892" y="5262198"/>
            <a:ext cx="9502800" cy="35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s-AR" sz="1200">
                <a:latin typeface="Roboto"/>
                <a:ea typeface="Roboto"/>
                <a:cs typeface="Roboto"/>
                <a:sym typeface="Roboto"/>
              </a:rPr>
              <a:t>Ing. Romina Rontomé  ·  Lic. Guillermo Barchiesi</a:t>
            </a:r>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s://www.ticportal.es/glosario-tic/procesos-empresariales" TargetMode="External"/><Relationship Id="rId4" Type="http://schemas.openxmlformats.org/officeDocument/2006/relationships/hyperlink" Target="https://www.ticportal.es/temas/enterprise-resource-planning/que-es-sistema-erp" TargetMode="External"/><Relationship Id="rId5" Type="http://schemas.openxmlformats.org/officeDocument/2006/relationships/hyperlink" Target="https://www.ticportal.es/temas/enterprise-resource-planning/funciones-erp" TargetMode="External"/><Relationship Id="rId6" Type="http://schemas.openxmlformats.org/officeDocument/2006/relationships/hyperlink" Target="https://www.ticportal.es/glosario-tic/migracion-dato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5"/>
          <p:cNvSpPr txBox="1"/>
          <p:nvPr/>
        </p:nvSpPr>
        <p:spPr>
          <a:xfrm>
            <a:off x="608550" y="1533025"/>
            <a:ext cx="9091800" cy="168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SzPts val="4800"/>
              <a:buNone/>
            </a:pPr>
            <a:r>
              <a:rPr b="1" lang="es-AR" sz="5100">
                <a:solidFill>
                  <a:srgbClr val="C7243A"/>
                </a:solidFill>
              </a:rPr>
              <a:t>ERP</a:t>
            </a:r>
            <a:endParaRPr b="1" sz="5100">
              <a:solidFill>
                <a:srgbClr val="C7243A"/>
              </a:solidFill>
            </a:endParaRPr>
          </a:p>
          <a:p>
            <a:pPr indent="0" lvl="0" marL="0" rtl="0" algn="ctr">
              <a:spcBef>
                <a:spcPts val="0"/>
              </a:spcBef>
              <a:spcAft>
                <a:spcPts val="0"/>
              </a:spcAft>
              <a:buSzPts val="4800"/>
              <a:buNone/>
            </a:pPr>
            <a:r>
              <a:rPr b="1" lang="es-AR" sz="2400">
                <a:solidFill>
                  <a:srgbClr val="C7243A"/>
                </a:solidFill>
              </a:rPr>
              <a:t>Sistema de Planeación de Recursos Empresariales</a:t>
            </a:r>
            <a:r>
              <a:rPr b="1" lang="es-AR" sz="4000">
                <a:solidFill>
                  <a:srgbClr val="C7243A"/>
                </a:solidFill>
              </a:rPr>
              <a:t> </a:t>
            </a:r>
            <a:endParaRPr b="1" sz="4000">
              <a:solidFill>
                <a:srgbClr val="C7243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6"/>
          <p:cNvSpPr txBox="1"/>
          <p:nvPr/>
        </p:nvSpPr>
        <p:spPr>
          <a:xfrm>
            <a:off x="338925" y="763650"/>
            <a:ext cx="54225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¿Qué es un ERP?</a:t>
            </a:r>
            <a:endParaRPr b="1" sz="3500" strike="noStrike">
              <a:solidFill>
                <a:srgbClr val="C7243A"/>
              </a:solidFill>
            </a:endParaRPr>
          </a:p>
        </p:txBody>
      </p:sp>
      <p:sp>
        <p:nvSpPr>
          <p:cNvPr id="66" name="Google Shape;66;p16"/>
          <p:cNvSpPr txBox="1"/>
          <p:nvPr/>
        </p:nvSpPr>
        <p:spPr>
          <a:xfrm>
            <a:off x="371925" y="1626050"/>
            <a:ext cx="9242100" cy="3392100"/>
          </a:xfrm>
          <a:prstGeom prst="rect">
            <a:avLst/>
          </a:prstGeom>
          <a:noFill/>
          <a:ln>
            <a:noFill/>
          </a:ln>
        </p:spPr>
        <p:txBody>
          <a:bodyPr anchorCtr="0" anchor="t" bIns="0" lIns="0" spcFirstLastPara="1" rIns="0" wrap="square" tIns="0">
            <a:normAutofit lnSpcReduction="20000"/>
          </a:bodyPr>
          <a:lstStyle/>
          <a:p>
            <a:pPr indent="0" lvl="0" marL="0" rtl="0" algn="l">
              <a:lnSpc>
                <a:spcPct val="115000"/>
              </a:lnSpc>
              <a:spcBef>
                <a:spcPts val="0"/>
              </a:spcBef>
              <a:spcAft>
                <a:spcPts val="0"/>
              </a:spcAft>
              <a:buNone/>
            </a:pPr>
            <a:r>
              <a:rPr b="1" lang="es-AR" sz="2000"/>
              <a:t>ERP</a:t>
            </a:r>
            <a:r>
              <a:rPr lang="es-AR" sz="2000"/>
              <a:t> es un sistema prefabricado con técnicas de industrialización, integrado, y al mismo tiempo modular, cuya finalidad es colaborar con los sistemas de información de las organizaciones. El software está compuesto por un conjunto amplio de módulos estándar que son susceptibles de ser adaptados a las necesidades de cada cliente con mayor o menor limitación.</a:t>
            </a:r>
            <a:endParaRPr sz="2000"/>
          </a:p>
          <a:p>
            <a:pPr indent="0" lvl="0" marL="0" rtl="0" algn="l">
              <a:lnSpc>
                <a:spcPct val="115000"/>
              </a:lnSpc>
              <a:spcBef>
                <a:spcPts val="1200"/>
              </a:spcBef>
              <a:spcAft>
                <a:spcPts val="0"/>
              </a:spcAft>
              <a:buClr>
                <a:schemeClr val="dk1"/>
              </a:buClr>
              <a:buSzPts val="1100"/>
              <a:buFont typeface="Arial"/>
              <a:buNone/>
            </a:pPr>
            <a:r>
              <a:rPr lang="es-AR" sz="2000"/>
              <a:t>Recopila los datos de las transacciones compartidos por las diversas fuentes de una organización, elimina la duplicación de los datos y proporciona una integridad de datos con una única </a:t>
            </a:r>
            <a:r>
              <a:rPr b="1" i="1" lang="es-AR" sz="2000"/>
              <a:t>fuente de confianza</a:t>
            </a:r>
            <a:r>
              <a:rPr lang="es-AR" sz="2000"/>
              <a:t>.</a:t>
            </a:r>
            <a:endParaRPr i="1" sz="1550">
              <a:solidFill>
                <a:srgbClr val="272727"/>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i="1" sz="1100">
              <a:solidFill>
                <a:schemeClr val="dk1"/>
              </a:solidFill>
            </a:endParaRPr>
          </a:p>
          <a:p>
            <a:pPr indent="0" lvl="0" marL="457200" marR="0" rtl="0" algn="l">
              <a:lnSpc>
                <a:spcPct val="150000"/>
              </a:lnSpc>
              <a:spcBef>
                <a:spcPts val="1414"/>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7"/>
          <p:cNvSpPr txBox="1"/>
          <p:nvPr/>
        </p:nvSpPr>
        <p:spPr>
          <a:xfrm>
            <a:off x="338925" y="763650"/>
            <a:ext cx="54225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¿Para qué un ERP?</a:t>
            </a:r>
            <a:endParaRPr b="1" sz="3500" strike="noStrike">
              <a:solidFill>
                <a:srgbClr val="C7243A"/>
              </a:solidFill>
            </a:endParaRPr>
          </a:p>
        </p:txBody>
      </p:sp>
      <p:sp>
        <p:nvSpPr>
          <p:cNvPr id="72" name="Google Shape;72;p17"/>
          <p:cNvSpPr txBox="1"/>
          <p:nvPr/>
        </p:nvSpPr>
        <p:spPr>
          <a:xfrm>
            <a:off x="371925" y="1626050"/>
            <a:ext cx="9242100" cy="3392100"/>
          </a:xfrm>
          <a:prstGeom prst="rect">
            <a:avLst/>
          </a:prstGeom>
          <a:noFill/>
          <a:ln>
            <a:noFill/>
          </a:ln>
        </p:spPr>
        <p:txBody>
          <a:bodyPr anchorCtr="0" anchor="t" bIns="0" lIns="0" spcFirstLastPara="1" rIns="0" wrap="square" tIns="0">
            <a:normAutofit lnSpcReduction="10000"/>
          </a:bodyPr>
          <a:lstStyle/>
          <a:p>
            <a:pPr indent="0" lvl="0" marL="0" rtl="0" algn="l">
              <a:lnSpc>
                <a:spcPct val="115000"/>
              </a:lnSpc>
              <a:spcBef>
                <a:spcPts val="0"/>
              </a:spcBef>
              <a:spcAft>
                <a:spcPts val="0"/>
              </a:spcAft>
              <a:buNone/>
            </a:pPr>
            <a:r>
              <a:rPr lang="es-AR" sz="2000"/>
              <a:t>Se trata de un sistema de software único que sirva a las necesidades de las personas en materia de finanzas, así como a la gente de recursos humanos y al almacén. Cada uno de estos departamentos por lo general tiene su propio sistema informático optimizado para las formas particulares en las que el área hace su trabajo. Pero el ERP combina a todos ellos en un solo programa. El software integrado funciona con una sola base de datos para que los distintos departamentos puedan compartir más fácilmente la información y comunicarse entre sí.</a:t>
            </a:r>
            <a:endParaRPr i="1" sz="1550">
              <a:solidFill>
                <a:srgbClr val="272727"/>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i="1" sz="1100">
              <a:solidFill>
                <a:schemeClr val="dk1"/>
              </a:solidFill>
            </a:endParaRPr>
          </a:p>
          <a:p>
            <a:pPr indent="0" lvl="0" marL="457200" marR="0" rtl="0" algn="l">
              <a:lnSpc>
                <a:spcPct val="150000"/>
              </a:lnSpc>
              <a:spcBef>
                <a:spcPts val="1414"/>
              </a:spcBef>
              <a:spcAft>
                <a:spcPts val="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8"/>
          <p:cNvSpPr txBox="1"/>
          <p:nvPr/>
        </p:nvSpPr>
        <p:spPr>
          <a:xfrm>
            <a:off x="338925" y="763650"/>
            <a:ext cx="86130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Características de </a:t>
            </a:r>
            <a:r>
              <a:rPr b="1" lang="es-AR" sz="3500">
                <a:solidFill>
                  <a:srgbClr val="C7243A"/>
                </a:solidFill>
              </a:rPr>
              <a:t>un ERP?</a:t>
            </a:r>
            <a:endParaRPr b="1" sz="3500" strike="noStrike">
              <a:solidFill>
                <a:srgbClr val="C7243A"/>
              </a:solidFill>
            </a:endParaRPr>
          </a:p>
        </p:txBody>
      </p:sp>
      <p:sp>
        <p:nvSpPr>
          <p:cNvPr id="78" name="Google Shape;78;p18"/>
          <p:cNvSpPr txBox="1"/>
          <p:nvPr/>
        </p:nvSpPr>
        <p:spPr>
          <a:xfrm>
            <a:off x="371925" y="1309700"/>
            <a:ext cx="9458100" cy="3943500"/>
          </a:xfrm>
          <a:prstGeom prst="rect">
            <a:avLst/>
          </a:prstGeom>
          <a:noFill/>
          <a:ln>
            <a:noFill/>
          </a:ln>
        </p:spPr>
        <p:txBody>
          <a:bodyPr anchorCtr="0" anchor="t" bIns="0" lIns="0" spcFirstLastPara="1" rIns="0" wrap="square" tIns="0">
            <a:normAutofit lnSpcReduction="20000"/>
          </a:bodyPr>
          <a:lstStyle/>
          <a:p>
            <a:pPr indent="0" lvl="0" marL="0" rtl="0" algn="l">
              <a:lnSpc>
                <a:spcPct val="115000"/>
              </a:lnSpc>
              <a:spcBef>
                <a:spcPts val="0"/>
              </a:spcBef>
              <a:spcAft>
                <a:spcPts val="0"/>
              </a:spcAft>
              <a:buNone/>
            </a:pPr>
            <a:r>
              <a:rPr b="1" i="1" lang="es-AR" sz="2000"/>
              <a:t>Prefabricado</a:t>
            </a:r>
            <a:r>
              <a:rPr lang="es-AR" sz="2000"/>
              <a:t>: no fue desarrollado para una necesidad concreta de una empresa.</a:t>
            </a:r>
            <a:endParaRPr sz="2000"/>
          </a:p>
          <a:p>
            <a:pPr indent="0" lvl="0" marL="0" rtl="0" algn="l">
              <a:lnSpc>
                <a:spcPct val="115000"/>
              </a:lnSpc>
              <a:spcBef>
                <a:spcPts val="1200"/>
              </a:spcBef>
              <a:spcAft>
                <a:spcPts val="0"/>
              </a:spcAft>
              <a:buNone/>
            </a:pPr>
            <a:r>
              <a:rPr b="1" i="1" lang="es-AR" sz="2000"/>
              <a:t>Integrado</a:t>
            </a:r>
            <a:r>
              <a:rPr lang="es-AR" sz="2000"/>
              <a:t>: permite vincular los procesos de negocios de la empresa y compartir los datos independientemente de quien los genera.</a:t>
            </a:r>
            <a:endParaRPr sz="2000"/>
          </a:p>
          <a:p>
            <a:pPr indent="0" lvl="0" marL="0" rtl="0" algn="l">
              <a:lnSpc>
                <a:spcPct val="115000"/>
              </a:lnSpc>
              <a:spcBef>
                <a:spcPts val="1200"/>
              </a:spcBef>
              <a:spcAft>
                <a:spcPts val="0"/>
              </a:spcAft>
              <a:buNone/>
            </a:pPr>
            <a:r>
              <a:rPr b="1" i="1" lang="es-AR" sz="2000"/>
              <a:t>Modular</a:t>
            </a:r>
            <a:r>
              <a:rPr lang="es-AR" sz="2000"/>
              <a:t>: compuesto por un conjunto amplio de módulos que cubren la mayoría de las operaciones del negocio. Se trata de partes agrupadas por funciones que pueden ensamblarse (implementarse) en diferentes momentos para facilitar su puesta en producción o su convivencia con otros sistemas.</a:t>
            </a:r>
            <a:endParaRPr sz="2000"/>
          </a:p>
          <a:p>
            <a:pPr indent="0" lvl="0" marL="0" rtl="0" algn="l">
              <a:lnSpc>
                <a:spcPct val="115000"/>
              </a:lnSpc>
              <a:spcBef>
                <a:spcPts val="1200"/>
              </a:spcBef>
              <a:spcAft>
                <a:spcPts val="1200"/>
              </a:spcAft>
              <a:buNone/>
            </a:pPr>
            <a:r>
              <a:rPr b="1" i="1" lang="es-AR" sz="2000"/>
              <a:t>Adaptable a las necesidades de cada cliente</a:t>
            </a:r>
            <a:r>
              <a:rPr lang="es-AR" sz="2000"/>
              <a:t>: se puede adaptar a las diferentes prácticas de negocios. El ERP tiene la capacidad de poder configurar sus módulos o procesos de acuerdo con las salidas que precise cada departamento de la empresa, y así obtener la información lo más precisa y útil posible.</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9"/>
          <p:cNvSpPr txBox="1"/>
          <p:nvPr/>
        </p:nvSpPr>
        <p:spPr>
          <a:xfrm>
            <a:off x="338925" y="763650"/>
            <a:ext cx="9338700" cy="5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¿Por qué implementar un ERP?</a:t>
            </a:r>
            <a:endParaRPr b="1" sz="3500" strike="noStrike">
              <a:solidFill>
                <a:srgbClr val="C7243A"/>
              </a:solidFill>
            </a:endParaRPr>
          </a:p>
        </p:txBody>
      </p:sp>
      <p:sp>
        <p:nvSpPr>
          <p:cNvPr id="84" name="Google Shape;84;p19"/>
          <p:cNvSpPr txBox="1"/>
          <p:nvPr/>
        </p:nvSpPr>
        <p:spPr>
          <a:xfrm>
            <a:off x="371925" y="1410450"/>
            <a:ext cx="8752800" cy="3885900"/>
          </a:xfrm>
          <a:prstGeom prst="rect">
            <a:avLst/>
          </a:prstGeom>
          <a:noFill/>
          <a:ln>
            <a:noFill/>
          </a:ln>
        </p:spPr>
        <p:txBody>
          <a:bodyPr anchorCtr="0" anchor="t" bIns="0" lIns="0" spcFirstLastPara="1" rIns="0" wrap="square" tIns="0">
            <a:normAutofit fontScale="85000"/>
          </a:bodyPr>
          <a:lstStyle/>
          <a:p>
            <a:pPr indent="-312261" lvl="0" marL="457200" rtl="0" algn="l">
              <a:lnSpc>
                <a:spcPct val="115000"/>
              </a:lnSpc>
              <a:spcBef>
                <a:spcPts val="1000"/>
              </a:spcBef>
              <a:spcAft>
                <a:spcPts val="0"/>
              </a:spcAft>
              <a:buClr>
                <a:srgbClr val="272727"/>
              </a:buClr>
              <a:buSzPct val="77500"/>
              <a:buFont typeface="Times New Roman"/>
              <a:buChar char="●"/>
            </a:pPr>
            <a:r>
              <a:rPr b="1" i="1" lang="es-AR" sz="2000"/>
              <a:t>Integración de la información financiera</a:t>
            </a:r>
            <a:r>
              <a:rPr b="1" lang="es-AR" sz="2000"/>
              <a:t>: </a:t>
            </a:r>
            <a:r>
              <a:rPr lang="es-AR" sz="2000"/>
              <a:t>Asi lograr que se disponga de la misma información tanto en el departamento de ventas como en el de finanzas.</a:t>
            </a:r>
            <a:endParaRPr sz="2000"/>
          </a:p>
          <a:p>
            <a:pPr indent="-325755" lvl="0" marL="457200" rtl="0" algn="l">
              <a:lnSpc>
                <a:spcPct val="115000"/>
              </a:lnSpc>
              <a:spcBef>
                <a:spcPts val="1000"/>
              </a:spcBef>
              <a:spcAft>
                <a:spcPts val="0"/>
              </a:spcAft>
              <a:buClr>
                <a:srgbClr val="272727"/>
              </a:buClr>
              <a:buSzPct val="90000"/>
              <a:buFont typeface="Montserrat"/>
              <a:buChar char="●"/>
            </a:pPr>
            <a:r>
              <a:rPr b="1" i="1" lang="es-AR" sz="2000"/>
              <a:t>Información del cliente integrada</a:t>
            </a:r>
            <a:r>
              <a:rPr b="1" lang="es-AR" sz="2000"/>
              <a:t>:</a:t>
            </a:r>
            <a:r>
              <a:rPr lang="es-AR" sz="2000"/>
              <a:t>Teniendo la información en un único sistema, en lugar de dispersarse entre muchos diferentes que no se pueden comunicar entre si, las compañías pueden rastrear los movimientos del cliente más fácilmente y coordinar la fabricación, los inventarios y el envío a diferentes destinos al mismo tiempo.</a:t>
            </a:r>
            <a:endParaRPr sz="2000"/>
          </a:p>
          <a:p>
            <a:pPr indent="-336550" lvl="0" marL="457200" rtl="0" algn="l">
              <a:lnSpc>
                <a:spcPct val="120000"/>
              </a:lnSpc>
              <a:spcBef>
                <a:spcPts val="1000"/>
              </a:spcBef>
              <a:spcAft>
                <a:spcPts val="400"/>
              </a:spcAft>
              <a:buSzPct val="100000"/>
              <a:buChar char="●"/>
            </a:pPr>
            <a:r>
              <a:rPr b="1" i="1" lang="es-AR" sz="2000"/>
              <a:t>Estandarización y aceleración de los procesos de manufactura</a:t>
            </a:r>
            <a:r>
              <a:rPr b="1" lang="es-AR" sz="2000"/>
              <a:t>:</a:t>
            </a:r>
            <a:r>
              <a:rPr lang="es-AR" sz="2000"/>
              <a:t>Las compañías de manufactura, especialmente aquellas que tienen intención de hacer fusiones y adquisiciones, a menudo encuentran que las múltiples unidades de negocio emplean los mismos dispositivos para hacer un trabajo particular, usando métodos y sistemas de procesamiento diferentes.En este sentido la implementación de ERP usa métodos estandarizados para automatizar algunos de los pasos de un proceso industrial.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nvSpPr>
        <p:spPr>
          <a:xfrm>
            <a:off x="338925" y="763650"/>
            <a:ext cx="9338700" cy="5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¿Por qué implementar un ERP?</a:t>
            </a:r>
            <a:endParaRPr b="1" sz="3500" strike="noStrike">
              <a:solidFill>
                <a:srgbClr val="C7243A"/>
              </a:solidFill>
            </a:endParaRPr>
          </a:p>
        </p:txBody>
      </p:sp>
      <p:sp>
        <p:nvSpPr>
          <p:cNvPr id="90" name="Google Shape;90;p20"/>
          <p:cNvSpPr txBox="1"/>
          <p:nvPr/>
        </p:nvSpPr>
        <p:spPr>
          <a:xfrm>
            <a:off x="371925" y="1410450"/>
            <a:ext cx="8752800" cy="3137400"/>
          </a:xfrm>
          <a:prstGeom prst="rect">
            <a:avLst/>
          </a:prstGeom>
          <a:noFill/>
          <a:ln>
            <a:noFill/>
          </a:ln>
        </p:spPr>
        <p:txBody>
          <a:bodyPr anchorCtr="0" anchor="t" bIns="0" lIns="0" spcFirstLastPara="1" rIns="0" wrap="square" tIns="0">
            <a:normAutofit lnSpcReduction="20000"/>
          </a:bodyPr>
          <a:lstStyle/>
          <a:p>
            <a:pPr indent="-327025" lvl="0" marL="457200" marR="0" rtl="0" algn="l">
              <a:lnSpc>
                <a:spcPct val="115000"/>
              </a:lnSpc>
              <a:spcBef>
                <a:spcPts val="1000"/>
              </a:spcBef>
              <a:spcAft>
                <a:spcPts val="0"/>
              </a:spcAft>
              <a:buClr>
                <a:srgbClr val="272727"/>
              </a:buClr>
              <a:buSzPts val="1550"/>
              <a:buFont typeface="Times New Roman"/>
              <a:buChar char="●"/>
            </a:pPr>
            <a:r>
              <a:rPr b="1" lang="es-AR" sz="2000"/>
              <a:t>Reducción del inventario:</a:t>
            </a:r>
            <a:r>
              <a:rPr lang="es-AR" sz="2000"/>
              <a:t> El ERP ayuda al proceso industrial a fluir más fácilmente. Esto lleva a reducir los inventarios de productos en proceso y terminados. Además se obtienen mejoras significativas en el tiempo de entrega a los clientes. </a:t>
            </a:r>
            <a:endParaRPr sz="2000"/>
          </a:p>
          <a:p>
            <a:pPr indent="-327025" lvl="0" marL="457200" marR="0" rtl="0" algn="l">
              <a:lnSpc>
                <a:spcPct val="115000"/>
              </a:lnSpc>
              <a:spcBef>
                <a:spcPts val="1000"/>
              </a:spcBef>
              <a:spcAft>
                <a:spcPts val="400"/>
              </a:spcAft>
              <a:buClr>
                <a:srgbClr val="272727"/>
              </a:buClr>
              <a:buSzPts val="1550"/>
              <a:buFont typeface="Times New Roman"/>
              <a:buChar char="●"/>
            </a:pPr>
            <a:r>
              <a:rPr b="1" lang="es-AR" sz="2000"/>
              <a:t>Estandarización de la información de Recursos Humanos:</a:t>
            </a:r>
            <a:r>
              <a:rPr lang="es-AR" sz="2000"/>
              <a:t> En empresas donde el área de RRHH necesita unificarse con un sistema que permita rastrear las carreras de los empleados o conocer su productividad y comunicarse con ellos acerca de los beneficios y servicios, la implementación de un ERP resuelve la administración del capital humano.</a:t>
            </a:r>
            <a:endParaRPr i="1"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nvSpPr>
        <p:spPr>
          <a:xfrm>
            <a:off x="338925" y="763650"/>
            <a:ext cx="9338700" cy="5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Problema:Proceso de cumplimiento de órdenes</a:t>
            </a:r>
            <a:endParaRPr b="1" sz="2800" strike="noStrike">
              <a:solidFill>
                <a:srgbClr val="C7243A"/>
              </a:solidFill>
            </a:endParaRPr>
          </a:p>
        </p:txBody>
      </p:sp>
      <p:sp>
        <p:nvSpPr>
          <p:cNvPr id="96" name="Google Shape;96;p21"/>
          <p:cNvSpPr txBox="1"/>
          <p:nvPr/>
        </p:nvSpPr>
        <p:spPr>
          <a:xfrm>
            <a:off x="371925" y="1410450"/>
            <a:ext cx="8752800" cy="3137400"/>
          </a:xfrm>
          <a:prstGeom prst="rect">
            <a:avLst/>
          </a:prstGeom>
          <a:noFill/>
          <a:ln>
            <a:noFill/>
          </a:ln>
        </p:spPr>
        <p:txBody>
          <a:bodyPr anchorCtr="0" anchor="t" bIns="0" lIns="0" spcFirstLastPara="1" rIns="0" wrap="square" tIns="0">
            <a:normAutofit/>
          </a:bodyPr>
          <a:lstStyle/>
          <a:p>
            <a:pPr indent="0" lvl="0" marL="457200" marR="0" rtl="0" algn="l">
              <a:lnSpc>
                <a:spcPct val="115000"/>
              </a:lnSpc>
              <a:spcBef>
                <a:spcPts val="1000"/>
              </a:spcBef>
              <a:spcAft>
                <a:spcPts val="0"/>
              </a:spcAft>
              <a:buNone/>
            </a:pPr>
            <a:r>
              <a:rPr lang="es-AR" sz="2000"/>
              <a:t>La situación que se plantea es el pedido de un cliente, inserto al sistema a través de una orden,  que se procesa, y se factura, afectando registros contables y los ingresos de la empresa (es por eso que se conoce como un software de back office).</a:t>
            </a:r>
            <a:endParaRPr sz="2000"/>
          </a:p>
          <a:p>
            <a:pPr indent="0" lvl="0" marL="457200" marR="0" rtl="0" algn="l">
              <a:lnSpc>
                <a:spcPct val="115000"/>
              </a:lnSpc>
              <a:spcBef>
                <a:spcPts val="1000"/>
              </a:spcBef>
              <a:spcAft>
                <a:spcPts val="400"/>
              </a:spcAft>
              <a:buNone/>
            </a:pPr>
            <a:r>
              <a:rPr lang="es-AR" sz="2000"/>
              <a:t>En las siguientes situaciones se plantean </a:t>
            </a:r>
            <a:r>
              <a:rPr lang="es-AR" sz="2000"/>
              <a:t>qué</a:t>
            </a:r>
            <a:r>
              <a:rPr lang="es-AR" sz="2000"/>
              <a:t> sucede cuando no se aplica un ERP y posteriormente los beneficios de aplicarlo.</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nvSpPr>
        <p:spPr>
          <a:xfrm>
            <a:off x="338925" y="763650"/>
            <a:ext cx="9338700" cy="9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Problema:Proceso de cumplimiento de órdenes</a:t>
            </a:r>
            <a:endParaRPr b="1" sz="3200">
              <a:solidFill>
                <a:srgbClr val="C7243A"/>
              </a:solidFill>
            </a:endParaRPr>
          </a:p>
          <a:p>
            <a:pPr indent="0" lvl="0" marL="0" marR="0" rtl="0" algn="l">
              <a:spcBef>
                <a:spcPts val="0"/>
              </a:spcBef>
              <a:spcAft>
                <a:spcPts val="0"/>
              </a:spcAft>
              <a:buClr>
                <a:srgbClr val="000000"/>
              </a:buClr>
              <a:buFont typeface="Arial"/>
              <a:buNone/>
            </a:pPr>
            <a:r>
              <a:rPr b="1" lang="es-AR" sz="2500">
                <a:solidFill>
                  <a:srgbClr val="C7243A"/>
                </a:solidFill>
              </a:rPr>
              <a:t>Situación sin la implementación de ERP</a:t>
            </a:r>
            <a:endParaRPr b="1" sz="2500">
              <a:solidFill>
                <a:srgbClr val="C7243A"/>
              </a:solidFill>
            </a:endParaRPr>
          </a:p>
        </p:txBody>
      </p:sp>
      <p:sp>
        <p:nvSpPr>
          <p:cNvPr id="102" name="Google Shape;102;p22"/>
          <p:cNvSpPr txBox="1"/>
          <p:nvPr/>
        </p:nvSpPr>
        <p:spPr>
          <a:xfrm>
            <a:off x="371925" y="1943850"/>
            <a:ext cx="9305700" cy="3208500"/>
          </a:xfrm>
          <a:prstGeom prst="rect">
            <a:avLst/>
          </a:prstGeom>
          <a:noFill/>
          <a:ln>
            <a:noFill/>
          </a:ln>
        </p:spPr>
        <p:txBody>
          <a:bodyPr anchorCtr="0" anchor="t" bIns="0" lIns="0" spcFirstLastPara="1" rIns="0" wrap="square" tIns="0">
            <a:normAutofit lnSpcReduction="20000"/>
          </a:bodyPr>
          <a:lstStyle/>
          <a:p>
            <a:pPr indent="0" lvl="0" marL="457200" marR="0" rtl="0" algn="l">
              <a:lnSpc>
                <a:spcPct val="115000"/>
              </a:lnSpc>
              <a:spcBef>
                <a:spcPts val="1000"/>
              </a:spcBef>
              <a:spcAft>
                <a:spcPts val="0"/>
              </a:spcAft>
              <a:buClr>
                <a:schemeClr val="dk1"/>
              </a:buClr>
              <a:buSzPts val="1100"/>
              <a:buFont typeface="Arial"/>
              <a:buNone/>
            </a:pPr>
            <a:r>
              <a:rPr lang="es-AR" sz="2000"/>
              <a:t>Tomemos el pedido de un cliente, por ejemplo. Normalmente, cuando un cliente realiza una orden, ésta comienza un viaje que da vueltas en diferentes “bandejas” de la compañía, siendo introducido y redirigido en los sistemas informáticos de diferentes departamentos en el camino.</a:t>
            </a:r>
            <a:endParaRPr sz="2000"/>
          </a:p>
          <a:p>
            <a:pPr indent="0" lvl="0" marL="457200" marR="0" rtl="0" algn="l">
              <a:lnSpc>
                <a:spcPct val="115000"/>
              </a:lnSpc>
              <a:spcBef>
                <a:spcPts val="1000"/>
              </a:spcBef>
              <a:spcAft>
                <a:spcPts val="0"/>
              </a:spcAft>
              <a:buClr>
                <a:schemeClr val="dk1"/>
              </a:buClr>
              <a:buSzPts val="1100"/>
              <a:buFont typeface="Arial"/>
              <a:buNone/>
            </a:pPr>
            <a:r>
              <a:rPr lang="es-AR" sz="2000"/>
              <a:t>T</a:t>
            </a:r>
            <a:r>
              <a:rPr lang="es-AR" sz="2000"/>
              <a:t>odo provoca retrasos y a veces pérdidas. Una consulta por diferentes sistemas informáticos invita a posibles errores. Mientras tanto, nadie en la empresa sabe realmente cuál es el estado de la orden en un momento dado, porque no hay manera que el departamento de finanzas, por ejemplo, ingrese en el sistema informático del almacén para ver si el artículo ha sido enviado.</a:t>
            </a:r>
            <a:endParaRPr sz="2000"/>
          </a:p>
          <a:p>
            <a:pPr indent="0" lvl="0" marL="457200" marR="0" rtl="0" algn="l">
              <a:lnSpc>
                <a:spcPct val="115000"/>
              </a:lnSpc>
              <a:spcBef>
                <a:spcPts val="1000"/>
              </a:spcBef>
              <a:spcAft>
                <a:spcPts val="40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nvSpPr>
        <p:spPr>
          <a:xfrm>
            <a:off x="338925" y="763650"/>
            <a:ext cx="9338700" cy="9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Problema:Proceso de cumplimiento de órdenes</a:t>
            </a:r>
            <a:endParaRPr b="1" sz="3200">
              <a:solidFill>
                <a:srgbClr val="C7243A"/>
              </a:solidFill>
            </a:endParaRPr>
          </a:p>
          <a:p>
            <a:pPr indent="0" lvl="0" marL="0" marR="0" rtl="0" algn="l">
              <a:spcBef>
                <a:spcPts val="0"/>
              </a:spcBef>
              <a:spcAft>
                <a:spcPts val="0"/>
              </a:spcAft>
              <a:buClr>
                <a:srgbClr val="000000"/>
              </a:buClr>
              <a:buFont typeface="Arial"/>
              <a:buNone/>
            </a:pPr>
            <a:r>
              <a:rPr b="1" lang="es-AR" sz="2500">
                <a:solidFill>
                  <a:srgbClr val="C7243A"/>
                </a:solidFill>
              </a:rPr>
              <a:t>Situación con la implementación de ERP</a:t>
            </a:r>
            <a:endParaRPr b="1" sz="2500">
              <a:solidFill>
                <a:srgbClr val="C7243A"/>
              </a:solidFill>
            </a:endParaRPr>
          </a:p>
        </p:txBody>
      </p:sp>
      <p:sp>
        <p:nvSpPr>
          <p:cNvPr id="108" name="Google Shape;108;p23"/>
          <p:cNvSpPr txBox="1"/>
          <p:nvPr/>
        </p:nvSpPr>
        <p:spPr>
          <a:xfrm>
            <a:off x="0" y="1842200"/>
            <a:ext cx="9916200" cy="3310200"/>
          </a:xfrm>
          <a:prstGeom prst="rect">
            <a:avLst/>
          </a:prstGeom>
          <a:noFill/>
          <a:ln>
            <a:noFill/>
          </a:ln>
        </p:spPr>
        <p:txBody>
          <a:bodyPr anchorCtr="0" anchor="t" bIns="0" lIns="0" spcFirstLastPara="1" rIns="0" wrap="square" tIns="0">
            <a:noAutofit/>
          </a:bodyPr>
          <a:lstStyle/>
          <a:p>
            <a:pPr indent="0" lvl="0" marL="457200" marR="0" rtl="0" algn="l">
              <a:lnSpc>
                <a:spcPct val="95000"/>
              </a:lnSpc>
              <a:spcBef>
                <a:spcPts val="1000"/>
              </a:spcBef>
              <a:spcAft>
                <a:spcPts val="0"/>
              </a:spcAft>
              <a:buSzPts val="852"/>
              <a:buNone/>
            </a:pPr>
            <a:r>
              <a:rPr lang="es-AR" sz="2250"/>
              <a:t>El ERP proporciona una hoja de ruta de software para la automatización de los diferentes pasos en el camino de cumplir con la orden. Cuando un representante de ventas o de servicio introduce el pedido de un cliente en un sistema ERP  puede tener toda la información necesaria para completarlo:</a:t>
            </a:r>
            <a:endParaRPr sz="2250"/>
          </a:p>
          <a:p>
            <a:pPr indent="0" lvl="0" marL="457200" marR="0" rtl="0" algn="l">
              <a:lnSpc>
                <a:spcPct val="95000"/>
              </a:lnSpc>
              <a:spcBef>
                <a:spcPts val="1000"/>
              </a:spcBef>
              <a:spcAft>
                <a:spcPts val="0"/>
              </a:spcAft>
              <a:buSzPts val="852"/>
              <a:buNone/>
            </a:pPr>
            <a:r>
              <a:rPr lang="es-AR" sz="2250"/>
              <a:t> - La calificación crediticia del cliente, el historial de pedidos.</a:t>
            </a:r>
            <a:endParaRPr sz="2250"/>
          </a:p>
          <a:p>
            <a:pPr indent="0" lvl="0" marL="457200" marR="0" rtl="0" algn="l">
              <a:lnSpc>
                <a:spcPct val="95000"/>
              </a:lnSpc>
              <a:spcBef>
                <a:spcPts val="1000"/>
              </a:spcBef>
              <a:spcAft>
                <a:spcPts val="0"/>
              </a:spcAft>
              <a:buSzPts val="852"/>
              <a:buNone/>
            </a:pPr>
            <a:r>
              <a:rPr lang="es-AR" sz="2250"/>
              <a:t> - Los niveles de inventario de la empresa.</a:t>
            </a:r>
            <a:endParaRPr sz="2250"/>
          </a:p>
          <a:p>
            <a:pPr indent="0" lvl="0" marL="457200" marR="0" rtl="0" algn="l">
              <a:lnSpc>
                <a:spcPct val="95000"/>
              </a:lnSpc>
              <a:spcBef>
                <a:spcPts val="1000"/>
              </a:spcBef>
              <a:spcAft>
                <a:spcPts val="0"/>
              </a:spcAft>
              <a:buSzPts val="852"/>
              <a:buNone/>
            </a:pPr>
            <a:r>
              <a:rPr lang="es-AR" sz="2250"/>
              <a:t> - Las posibilidades de transporte desde el lugar de embarque... </a:t>
            </a:r>
            <a:endParaRPr sz="2250"/>
          </a:p>
          <a:p>
            <a:pPr indent="0" lvl="0" marL="457200" marR="0" rtl="0" algn="l">
              <a:lnSpc>
                <a:spcPct val="95000"/>
              </a:lnSpc>
              <a:spcBef>
                <a:spcPts val="1000"/>
              </a:spcBef>
              <a:spcAft>
                <a:spcPts val="400"/>
              </a:spcAft>
              <a:buSzPts val="852"/>
              <a:buNone/>
            </a:pPr>
            <a:r>
              <a:t/>
            </a:r>
            <a:endParaRPr sz="22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nvSpPr>
        <p:spPr>
          <a:xfrm>
            <a:off x="338925" y="763650"/>
            <a:ext cx="9338700" cy="94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Problema:Proceso de cumplimiento de órdenes</a:t>
            </a:r>
            <a:endParaRPr b="1" sz="3200">
              <a:solidFill>
                <a:srgbClr val="C7243A"/>
              </a:solidFill>
            </a:endParaRPr>
          </a:p>
          <a:p>
            <a:pPr indent="0" lvl="0" marL="0" marR="0" rtl="0" algn="l">
              <a:spcBef>
                <a:spcPts val="0"/>
              </a:spcBef>
              <a:spcAft>
                <a:spcPts val="0"/>
              </a:spcAft>
              <a:buClr>
                <a:srgbClr val="000000"/>
              </a:buClr>
              <a:buFont typeface="Arial"/>
              <a:buNone/>
            </a:pPr>
            <a:r>
              <a:rPr b="1" lang="es-AR" sz="2500">
                <a:solidFill>
                  <a:srgbClr val="C7243A"/>
                </a:solidFill>
              </a:rPr>
              <a:t>Situación con la implementación de ERP</a:t>
            </a:r>
            <a:endParaRPr b="1" sz="2500">
              <a:solidFill>
                <a:srgbClr val="C7243A"/>
              </a:solidFill>
            </a:endParaRPr>
          </a:p>
        </p:txBody>
      </p:sp>
      <p:sp>
        <p:nvSpPr>
          <p:cNvPr id="114" name="Google Shape;114;p24"/>
          <p:cNvSpPr txBox="1"/>
          <p:nvPr/>
        </p:nvSpPr>
        <p:spPr>
          <a:xfrm>
            <a:off x="273450" y="1842200"/>
            <a:ext cx="9642900" cy="3310200"/>
          </a:xfrm>
          <a:prstGeom prst="rect">
            <a:avLst/>
          </a:prstGeom>
          <a:noFill/>
          <a:ln>
            <a:noFill/>
          </a:ln>
        </p:spPr>
        <p:txBody>
          <a:bodyPr anchorCtr="0" anchor="t" bIns="0" lIns="0" spcFirstLastPara="1" rIns="0" wrap="square" tIns="0">
            <a:noAutofit/>
          </a:bodyPr>
          <a:lstStyle/>
          <a:p>
            <a:pPr indent="0" lvl="0" marL="457200" marR="0" rtl="0" algn="l">
              <a:lnSpc>
                <a:spcPct val="95000"/>
              </a:lnSpc>
              <a:spcBef>
                <a:spcPts val="1000"/>
              </a:spcBef>
              <a:spcAft>
                <a:spcPts val="400"/>
              </a:spcAft>
              <a:buClr>
                <a:srgbClr val="000000"/>
              </a:buClr>
              <a:buSzPts val="852"/>
              <a:buFont typeface="Arial"/>
              <a:buNone/>
            </a:pPr>
            <a:r>
              <a:rPr lang="es-AR" sz="2250"/>
              <a:t>La gente, en estas diferentes áreas, ve la misma información y puede actualizarla. El proceso se mueve automáticamente de un responsable a otro. En cualquier momento se puede localizar el origen de la orden. Sólo se necesita ingresar al sistema de gestión. El proceso del pedido se mueve a través de la organización, y los clientes reciben los productos más rápido y con menos errores que antes. El ERP puede aplicar esa misma magia a los otros procesos de negocios importantes, como los beneficios de los empleados o la información financiera.</a:t>
            </a:r>
            <a:endParaRPr sz="22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nvSpPr>
        <p:spPr>
          <a:xfrm>
            <a:off x="338925" y="763650"/>
            <a:ext cx="9338700" cy="67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Implementación de un ERP</a:t>
            </a:r>
            <a:endParaRPr b="1" sz="2500">
              <a:solidFill>
                <a:srgbClr val="C7243A"/>
              </a:solidFill>
            </a:endParaRPr>
          </a:p>
        </p:txBody>
      </p:sp>
      <p:sp>
        <p:nvSpPr>
          <p:cNvPr id="120" name="Google Shape;120;p25"/>
          <p:cNvSpPr txBox="1"/>
          <p:nvPr/>
        </p:nvSpPr>
        <p:spPr>
          <a:xfrm>
            <a:off x="273450" y="1286850"/>
            <a:ext cx="9642900" cy="371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000"/>
              </a:spcBef>
              <a:spcAft>
                <a:spcPts val="0"/>
              </a:spcAft>
              <a:buClr>
                <a:schemeClr val="dk1"/>
              </a:buClr>
              <a:buSzPts val="1100"/>
              <a:buFont typeface="Arial"/>
              <a:buNone/>
            </a:pPr>
            <a:r>
              <a:rPr lang="es-AR" sz="2050"/>
              <a:t>La implementación de un ERP demanda el equilibrio suficiente para que los ajustes necesarios no cambien la forma en que la empresa gestiona su negocio, ni que la customización del ERP implique tanto desarrollo que desequilibre tiempos, presupuestos y funcionalidades </a:t>
            </a:r>
            <a:r>
              <a:rPr lang="es-AR" sz="2050"/>
              <a:t>inconclusas</a:t>
            </a:r>
            <a:r>
              <a:rPr lang="es-AR" sz="2050"/>
              <a:t>. En este sentido, la </a:t>
            </a:r>
            <a:r>
              <a:rPr lang="es-AR" sz="1950"/>
              <a:t>necesidad</a:t>
            </a:r>
            <a:r>
              <a:rPr lang="es-AR" sz="2050"/>
              <a:t> de adaptar un software de gestión  deja en manos del equipo de proyecto una elección básica entre:</a:t>
            </a:r>
            <a:endParaRPr sz="2050"/>
          </a:p>
          <a:p>
            <a:pPr indent="-358775" lvl="0" marL="457200" marR="0" rtl="0" algn="l">
              <a:lnSpc>
                <a:spcPct val="115000"/>
              </a:lnSpc>
              <a:spcBef>
                <a:spcPts val="1000"/>
              </a:spcBef>
              <a:spcAft>
                <a:spcPts val="0"/>
              </a:spcAft>
              <a:buSzPts val="2050"/>
              <a:buChar char="●"/>
            </a:pPr>
            <a:r>
              <a:rPr lang="es-AR" sz="2050"/>
              <a:t>Configurar el sistema en la mayor medida posible hasta que haga lo que usted necesita.</a:t>
            </a:r>
            <a:endParaRPr sz="2050"/>
          </a:p>
          <a:p>
            <a:pPr indent="-358775" lvl="0" marL="457200" marR="0" rtl="0" algn="l">
              <a:lnSpc>
                <a:spcPct val="115000"/>
              </a:lnSpc>
              <a:spcBef>
                <a:spcPts val="0"/>
              </a:spcBef>
              <a:spcAft>
                <a:spcPts val="0"/>
              </a:spcAft>
              <a:buSzPts val="2050"/>
              <a:buChar char="●"/>
            </a:pPr>
            <a:r>
              <a:rPr lang="es-AR" sz="2050"/>
              <a:t>Desarrollar código de programación personalizado, escrito para tratar de que las cosas funcionen exactamente de la manera que usted desea.</a:t>
            </a:r>
            <a:endParaRPr sz="2050"/>
          </a:p>
          <a:p>
            <a:pPr indent="0" lvl="0" marL="457200" marR="0" rtl="0" algn="l">
              <a:lnSpc>
                <a:spcPct val="95000"/>
              </a:lnSpc>
              <a:spcBef>
                <a:spcPts val="1000"/>
              </a:spcBef>
              <a:spcAft>
                <a:spcPts val="400"/>
              </a:spcAft>
              <a:buSzPts val="852"/>
              <a:buNone/>
            </a:pPr>
            <a:r>
              <a:t/>
            </a:r>
            <a:endParaRPr sz="22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nvSpPr>
        <p:spPr>
          <a:xfrm>
            <a:off x="338925" y="611250"/>
            <a:ext cx="9338700" cy="67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Proceso de implementación - Etapas</a:t>
            </a:r>
            <a:endParaRPr b="1" sz="2500">
              <a:solidFill>
                <a:srgbClr val="C7243A"/>
              </a:solidFill>
            </a:endParaRPr>
          </a:p>
        </p:txBody>
      </p:sp>
      <p:sp>
        <p:nvSpPr>
          <p:cNvPr id="126" name="Google Shape;126;p26"/>
          <p:cNvSpPr txBox="1"/>
          <p:nvPr/>
        </p:nvSpPr>
        <p:spPr>
          <a:xfrm>
            <a:off x="338925" y="1439250"/>
            <a:ext cx="9159900" cy="371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000"/>
              </a:spcBef>
              <a:spcAft>
                <a:spcPts val="0"/>
              </a:spcAft>
              <a:buNone/>
            </a:pPr>
            <a:r>
              <a:rPr lang="es-AR" sz="2000"/>
              <a:t>Existen diferentes metodologías y técnicas de implantación, dependiendo del tamaño de la empresa, la complejidad de los </a:t>
            </a:r>
            <a:r>
              <a:rPr lang="es-AR" sz="2000">
                <a:uFill>
                  <a:noFill/>
                </a:uFill>
                <a:hlinkClick r:id="rId3"/>
              </a:rPr>
              <a:t>procesos</a:t>
            </a:r>
            <a:r>
              <a:rPr lang="es-AR" sz="2000"/>
              <a:t> y el software elegido. Sin embargo, se pueden destacar algunas fases comunes por las que debe pasar todo proceso de implantación de un </a:t>
            </a:r>
            <a:r>
              <a:rPr lang="es-AR" sz="2000">
                <a:uFill>
                  <a:noFill/>
                </a:uFill>
                <a:hlinkClick r:id="rId4"/>
              </a:rPr>
              <a:t>ERP</a:t>
            </a:r>
            <a:r>
              <a:rPr lang="es-AR" sz="2000"/>
              <a:t>.</a:t>
            </a:r>
            <a:endParaRPr sz="2000"/>
          </a:p>
          <a:p>
            <a:pPr indent="0" lvl="0" marL="0" marR="0" rtl="0" algn="l">
              <a:lnSpc>
                <a:spcPct val="100000"/>
              </a:lnSpc>
              <a:spcBef>
                <a:spcPts val="1000"/>
              </a:spcBef>
              <a:spcAft>
                <a:spcPts val="0"/>
              </a:spcAft>
              <a:buNone/>
            </a:pPr>
            <a:r>
              <a:rPr b="1" lang="es-AR" sz="2000"/>
              <a:t>Análisis</a:t>
            </a:r>
            <a:r>
              <a:rPr lang="es-AR" sz="2000"/>
              <a:t>: durante esta fase la empresa deberá definir el proyecto y los requisitos que deberá cumplir este nuevo software durante el tiempo que funcione en la empresa.</a:t>
            </a:r>
            <a:endParaRPr sz="2000"/>
          </a:p>
          <a:p>
            <a:pPr indent="0" lvl="0" marL="0" marR="0" rtl="0" algn="l">
              <a:lnSpc>
                <a:spcPct val="100000"/>
              </a:lnSpc>
              <a:spcBef>
                <a:spcPts val="1000"/>
              </a:spcBef>
              <a:spcAft>
                <a:spcPts val="0"/>
              </a:spcAft>
              <a:buNone/>
            </a:pPr>
            <a:r>
              <a:rPr b="1" lang="es-AR" sz="2000"/>
              <a:t>Diseño</a:t>
            </a:r>
            <a:r>
              <a:rPr lang="es-AR" sz="2000"/>
              <a:t>: se desarrollará todo lo relacionado con las aplicaciones y </a:t>
            </a:r>
            <a:r>
              <a:rPr lang="es-AR" sz="2000">
                <a:uFill>
                  <a:noFill/>
                </a:uFill>
                <a:hlinkClick r:id="rId5"/>
              </a:rPr>
              <a:t>funcionalidades principales del ERP</a:t>
            </a:r>
            <a:r>
              <a:rPr lang="es-AR" sz="2000"/>
              <a:t>. Además, se configurarán los procesos principales del sistema y comenzará la </a:t>
            </a:r>
            <a:r>
              <a:rPr lang="es-AR" sz="2000">
                <a:uFill>
                  <a:noFill/>
                </a:uFill>
                <a:hlinkClick r:id="rId6"/>
              </a:rPr>
              <a:t>migración de datos</a:t>
            </a:r>
            <a:r>
              <a:rPr lang="es-AR" sz="2000"/>
              <a:t> desde el software antiguo.</a:t>
            </a:r>
            <a:endParaRPr sz="2000"/>
          </a:p>
          <a:p>
            <a:pPr indent="0" lvl="0" marL="0" marR="0" rtl="0" algn="l">
              <a:lnSpc>
                <a:spcPct val="100000"/>
              </a:lnSpc>
              <a:spcBef>
                <a:spcPts val="1000"/>
              </a:spcBef>
              <a:spcAft>
                <a:spcPts val="400"/>
              </a:spcAft>
              <a:buNone/>
            </a:pPr>
            <a:r>
              <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nvSpPr>
        <p:spPr>
          <a:xfrm>
            <a:off x="338925" y="611250"/>
            <a:ext cx="9338700" cy="67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s-AR" sz="3200">
                <a:solidFill>
                  <a:srgbClr val="C7243A"/>
                </a:solidFill>
              </a:rPr>
              <a:t>Proceso de implementación - Etapas</a:t>
            </a:r>
            <a:endParaRPr b="1" sz="2500">
              <a:solidFill>
                <a:srgbClr val="C7243A"/>
              </a:solidFill>
            </a:endParaRPr>
          </a:p>
        </p:txBody>
      </p:sp>
      <p:sp>
        <p:nvSpPr>
          <p:cNvPr id="132" name="Google Shape;132;p27"/>
          <p:cNvSpPr txBox="1"/>
          <p:nvPr/>
        </p:nvSpPr>
        <p:spPr>
          <a:xfrm>
            <a:off x="415125" y="1439250"/>
            <a:ext cx="4172400" cy="158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000"/>
              </a:spcBef>
              <a:spcAft>
                <a:spcPts val="0"/>
              </a:spcAft>
              <a:buNone/>
            </a:pPr>
            <a:r>
              <a:rPr b="1" lang="es-AR" sz="2000"/>
              <a:t>Implementación</a:t>
            </a:r>
            <a:r>
              <a:rPr lang="es-AR" sz="2000"/>
              <a:t>: esta fase es crucial dentro de todo el proyecto. Aquí se realizará la instalación del software y la puesta en marcha del nuevo programa.</a:t>
            </a:r>
            <a:endParaRPr sz="2000"/>
          </a:p>
          <a:p>
            <a:pPr indent="0" lvl="0" marL="0" marR="0" rtl="0" algn="l">
              <a:lnSpc>
                <a:spcPct val="100000"/>
              </a:lnSpc>
              <a:spcBef>
                <a:spcPts val="1000"/>
              </a:spcBef>
              <a:spcAft>
                <a:spcPts val="400"/>
              </a:spcAft>
              <a:buNone/>
            </a:pPr>
            <a:r>
              <a:t/>
            </a:r>
            <a:endParaRPr sz="2000"/>
          </a:p>
        </p:txBody>
      </p:sp>
      <p:pic>
        <p:nvPicPr>
          <p:cNvPr id="133" name="Google Shape;133;p27"/>
          <p:cNvPicPr preferRelativeResize="0"/>
          <p:nvPr/>
        </p:nvPicPr>
        <p:blipFill>
          <a:blip r:embed="rId3">
            <a:alphaModFix/>
          </a:blip>
          <a:stretch>
            <a:fillRect/>
          </a:stretch>
        </p:blipFill>
        <p:spPr>
          <a:xfrm>
            <a:off x="4511225" y="1200475"/>
            <a:ext cx="5166401" cy="1658350"/>
          </a:xfrm>
          <a:prstGeom prst="rect">
            <a:avLst/>
          </a:prstGeom>
          <a:noFill/>
          <a:ln>
            <a:noFill/>
          </a:ln>
        </p:spPr>
      </p:pic>
      <p:sp>
        <p:nvSpPr>
          <p:cNvPr id="134" name="Google Shape;134;p27"/>
          <p:cNvSpPr txBox="1"/>
          <p:nvPr/>
        </p:nvSpPr>
        <p:spPr>
          <a:xfrm>
            <a:off x="359800" y="3196750"/>
            <a:ext cx="8995200" cy="1108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400"/>
              </a:spcAft>
              <a:buClr>
                <a:schemeClr val="dk1"/>
              </a:buClr>
              <a:buSzPts val="1100"/>
              <a:buFont typeface="Arial"/>
              <a:buNone/>
            </a:pPr>
            <a:r>
              <a:rPr b="1" lang="es-AR" sz="2000">
                <a:solidFill>
                  <a:schemeClr val="dk1"/>
                </a:solidFill>
              </a:rPr>
              <a:t>Post-implementación</a:t>
            </a:r>
            <a:r>
              <a:rPr lang="es-AR" sz="2000">
                <a:solidFill>
                  <a:schemeClr val="dk1"/>
                </a:solidFill>
              </a:rPr>
              <a:t>: durante esta etapa se realizarán ajustes a detalles, se intentará mejorar el sistema en cada problema que pueda encontrarse y finalmente se realizará el análisis final del proyecto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8"/>
          <p:cNvSpPr txBox="1"/>
          <p:nvPr/>
        </p:nvSpPr>
        <p:spPr>
          <a:xfrm>
            <a:off x="338925" y="611250"/>
            <a:ext cx="9338700" cy="67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s-AR" sz="3200">
                <a:solidFill>
                  <a:srgbClr val="C7243A"/>
                </a:solidFill>
              </a:rPr>
              <a:t>Riesgos en la implementación de un ERP</a:t>
            </a:r>
            <a:endParaRPr b="1" sz="2500">
              <a:solidFill>
                <a:srgbClr val="C7243A"/>
              </a:solidFill>
            </a:endParaRPr>
          </a:p>
        </p:txBody>
      </p:sp>
      <p:sp>
        <p:nvSpPr>
          <p:cNvPr id="140" name="Google Shape;140;p28"/>
          <p:cNvSpPr txBox="1"/>
          <p:nvPr/>
        </p:nvSpPr>
        <p:spPr>
          <a:xfrm>
            <a:off x="415125" y="1286850"/>
            <a:ext cx="9262500" cy="399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100"/>
              </a:spcBef>
              <a:spcAft>
                <a:spcPts val="0"/>
              </a:spcAft>
              <a:buClr>
                <a:schemeClr val="dk1"/>
              </a:buClr>
              <a:buSzPts val="1100"/>
              <a:buFont typeface="Arial"/>
              <a:buNone/>
            </a:pPr>
            <a:r>
              <a:rPr lang="es-AR" sz="1750">
                <a:solidFill>
                  <a:schemeClr val="dk1"/>
                </a:solidFill>
                <a:highlight>
                  <a:srgbClr val="FFFFFF"/>
                </a:highlight>
              </a:rPr>
              <a:t>Todos estos riesgos deben estar contemplados y analizados por el personal de la empresa contratante con anterioridad a comenzar la implantación. Entre dichos riesgos destacan:</a:t>
            </a:r>
            <a:endParaRPr sz="1750">
              <a:solidFill>
                <a:schemeClr val="dk1"/>
              </a:solidFill>
              <a:highlight>
                <a:srgbClr val="FFFFFF"/>
              </a:highlight>
            </a:endParaRPr>
          </a:p>
          <a:p>
            <a:pPr indent="-339725" lvl="0" marL="457200" rtl="0" algn="l">
              <a:lnSpc>
                <a:spcPct val="115000"/>
              </a:lnSpc>
              <a:spcBef>
                <a:spcPts val="1100"/>
              </a:spcBef>
              <a:spcAft>
                <a:spcPts val="0"/>
              </a:spcAft>
              <a:buClr>
                <a:schemeClr val="dk1"/>
              </a:buClr>
              <a:buSzPts val="1750"/>
              <a:buChar char="●"/>
            </a:pPr>
            <a:r>
              <a:rPr lang="es-AR" sz="1750">
                <a:solidFill>
                  <a:schemeClr val="dk1"/>
                </a:solidFill>
                <a:highlight>
                  <a:srgbClr val="FFFFFF"/>
                </a:highlight>
              </a:rPr>
              <a:t>Software que no cubre las necesidades básicas de la empresa.</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s-AR" sz="1750">
                <a:solidFill>
                  <a:schemeClr val="dk1"/>
                </a:solidFill>
                <a:highlight>
                  <a:srgbClr val="FFFFFF"/>
                </a:highlight>
              </a:rPr>
              <a:t>Migración de datos defectuosa.</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s-AR" sz="1750">
                <a:solidFill>
                  <a:schemeClr val="dk1"/>
                </a:solidFill>
                <a:highlight>
                  <a:srgbClr val="FFFFFF"/>
                </a:highlight>
              </a:rPr>
              <a:t>Falta de empleados involucrados en el proyecto.</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s-AR" sz="1750">
                <a:solidFill>
                  <a:schemeClr val="dk1"/>
                </a:solidFill>
                <a:highlight>
                  <a:srgbClr val="FFFFFF"/>
                </a:highlight>
              </a:rPr>
              <a:t>Costes ocultos desorbitados.</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s-AR" sz="1750">
                <a:solidFill>
                  <a:schemeClr val="dk1"/>
                </a:solidFill>
                <a:highlight>
                  <a:srgbClr val="FFFFFF"/>
                </a:highlight>
              </a:rPr>
              <a:t>Calendario de implantación poco realista.</a:t>
            </a:r>
            <a:endParaRPr sz="1750">
              <a:solidFill>
                <a:schemeClr val="dk1"/>
              </a:solidFill>
              <a:highlight>
                <a:srgbClr val="FFFFFF"/>
              </a:highlight>
            </a:endParaRPr>
          </a:p>
          <a:p>
            <a:pPr indent="0" lvl="0" marL="0" rtl="0" algn="l">
              <a:lnSpc>
                <a:spcPct val="115000"/>
              </a:lnSpc>
              <a:spcBef>
                <a:spcPts val="1100"/>
              </a:spcBef>
              <a:spcAft>
                <a:spcPts val="1100"/>
              </a:spcAft>
              <a:buNone/>
            </a:pPr>
            <a:r>
              <a:rPr lang="es-AR" sz="1750">
                <a:solidFill>
                  <a:schemeClr val="dk1"/>
                </a:solidFill>
                <a:highlight>
                  <a:srgbClr val="FFFFFF"/>
                </a:highlight>
              </a:rPr>
              <a:t>La implantación de un ERP supone un cambio drástico y un gasto cuantioso para cualquier empresa. Muchas organizaciones actuales incluso se han visto obligadas a frenar sus procesos de implantación por motivos económicos. La falta de consideración de todos los factores relativos a una nueva implantación puede llevar a cualquier compañía a perder grandes cantidades de dinero difícilmente recuperable.</a:t>
            </a:r>
            <a:endParaRPr sz="2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nvSpPr>
        <p:spPr>
          <a:xfrm>
            <a:off x="338925" y="611250"/>
            <a:ext cx="9338700" cy="67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s-AR" sz="3200">
                <a:solidFill>
                  <a:srgbClr val="C7243A"/>
                </a:solidFill>
              </a:rPr>
              <a:t>ERP on premise</a:t>
            </a:r>
            <a:endParaRPr b="1" sz="2500">
              <a:solidFill>
                <a:srgbClr val="C7243A"/>
              </a:solidFill>
            </a:endParaRPr>
          </a:p>
        </p:txBody>
      </p:sp>
      <p:sp>
        <p:nvSpPr>
          <p:cNvPr id="146" name="Google Shape;146;p29"/>
          <p:cNvSpPr txBox="1"/>
          <p:nvPr/>
        </p:nvSpPr>
        <p:spPr>
          <a:xfrm>
            <a:off x="381000" y="1286850"/>
            <a:ext cx="9262500" cy="190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s-AR" sz="2000"/>
              <a:t>El ERP on premise es la implementación tradicional del sistema de gestión donde el software se instala en la propia empresa, dentro del servidor y la infraestructura. La empresa incurre en los costos iniciales significativos de licencias de software, servidores nuevos o actualizados y equipos de red. Las actualizaciones y mantenimiento quedan a cargo de la empresa.</a:t>
            </a:r>
            <a:endParaRPr sz="2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0"/>
          <p:cNvSpPr txBox="1"/>
          <p:nvPr/>
        </p:nvSpPr>
        <p:spPr>
          <a:xfrm>
            <a:off x="338925" y="611250"/>
            <a:ext cx="9338700" cy="67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s-AR" sz="3200">
                <a:solidFill>
                  <a:srgbClr val="C7243A"/>
                </a:solidFill>
              </a:rPr>
              <a:t>ERP en la nube o SaaS</a:t>
            </a:r>
            <a:endParaRPr b="1" sz="2500">
              <a:solidFill>
                <a:srgbClr val="C7243A"/>
              </a:solidFill>
            </a:endParaRPr>
          </a:p>
        </p:txBody>
      </p:sp>
      <p:sp>
        <p:nvSpPr>
          <p:cNvPr id="152" name="Google Shape;152;p30"/>
          <p:cNvSpPr txBox="1"/>
          <p:nvPr/>
        </p:nvSpPr>
        <p:spPr>
          <a:xfrm>
            <a:off x="381000" y="1286850"/>
            <a:ext cx="9262500" cy="327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s-AR" sz="2000"/>
              <a:t>El ERP en la nube o Software as a Service (SaaS) es un modelo que representa costos más bajos para una empresa. En este caso no se tiene que comprar ningún software o hardware sino que se contrata en lugar de comprarlo con una tarifa plana o de manera dosificada. </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AR" sz="2000"/>
              <a:t>Las soluciones de ERP como servicio son, normalmente, facturados por mes y por usuario. La empresa puede financiar completamente su nueva solución e imputar el gasto como costos operativos en lugar de ser una inversión de capital que, en muchos casos, se transforma en un costo hundido.</a:t>
            </a:r>
            <a:endParaRPr sz="2000"/>
          </a:p>
          <a:p>
            <a:pPr indent="0" lvl="0" marL="0" rtl="0" algn="l">
              <a:spcBef>
                <a:spcPts val="0"/>
              </a:spcBef>
              <a:spcAft>
                <a:spcPts val="0"/>
              </a:spcAft>
              <a:buNone/>
            </a:pPr>
            <a:r>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1"/>
          <p:cNvSpPr txBox="1"/>
          <p:nvPr/>
        </p:nvSpPr>
        <p:spPr>
          <a:xfrm>
            <a:off x="608550" y="1533025"/>
            <a:ext cx="9091800" cy="168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SzPts val="4800"/>
              <a:buNone/>
            </a:pPr>
            <a:r>
              <a:rPr b="1" lang="es-AR" sz="4800">
                <a:solidFill>
                  <a:srgbClr val="963334"/>
                </a:solidFill>
              </a:rPr>
              <a:t>Muchas gracias.</a:t>
            </a:r>
            <a:endParaRPr sz="5000">
              <a:solidFill>
                <a:srgbClr val="C7243A"/>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
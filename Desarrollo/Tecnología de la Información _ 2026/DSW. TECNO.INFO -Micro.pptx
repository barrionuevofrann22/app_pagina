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19" roundtripDataSignature="AMtx7mgLmmJDoHWrO9I5nn6X9QJYN+sJ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customschemas.google.com/relationships/presentationmetadata" Target="metadata"/><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 name="Google Shape;2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 name="Google Shape;3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 name="Google Shape;4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 name="Google Shape;5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9374e084f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g9374e084fb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9374e084fb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g9374e084fb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9374e084fb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g9374e084fb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9374e084fb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9374e084fb_0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9374e084fb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g9374e084fb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9374e084fb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g9374e084fb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9374e084fb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g9374e084fb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9374e084fb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9374e084fb_0_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2"/>
          <p:cNvSpPr txBox="1"/>
          <p:nvPr>
            <p:ph type="ctrTitle"/>
          </p:nvPr>
        </p:nvSpPr>
        <p:spPr>
          <a:xfrm>
            <a:off x="685800" y="1583342"/>
            <a:ext cx="7772400" cy="1159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0" name="Google Shape;10;p22"/>
          <p:cNvSpPr txBox="1"/>
          <p:nvPr>
            <p:ph idx="1" type="subTitle"/>
          </p:nvPr>
        </p:nvSpPr>
        <p:spPr>
          <a:xfrm>
            <a:off x="685800" y="2840053"/>
            <a:ext cx="7772400" cy="7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2"/>
              </a:buClr>
              <a:buSzPts val="3000"/>
              <a:buNone/>
              <a:defRPr>
                <a:solidFill>
                  <a:schemeClr val="dk2"/>
                </a:solidFill>
              </a:defRPr>
            </a:lvl1pPr>
            <a:lvl2pPr lvl="1" algn="ctr">
              <a:lnSpc>
                <a:spcPct val="100000"/>
              </a:lnSpc>
              <a:spcBef>
                <a:spcPts val="0"/>
              </a:spcBef>
              <a:spcAft>
                <a:spcPts val="0"/>
              </a:spcAft>
              <a:buClr>
                <a:schemeClr val="dk2"/>
              </a:buClr>
              <a:buSzPts val="3000"/>
              <a:buNone/>
              <a:defRPr sz="3000">
                <a:solidFill>
                  <a:schemeClr val="dk2"/>
                </a:solidFill>
              </a:defRPr>
            </a:lvl2pPr>
            <a:lvl3pPr lvl="2" algn="ctr">
              <a:lnSpc>
                <a:spcPct val="100000"/>
              </a:lnSpc>
              <a:spcBef>
                <a:spcPts val="0"/>
              </a:spcBef>
              <a:spcAft>
                <a:spcPts val="0"/>
              </a:spcAft>
              <a:buClr>
                <a:schemeClr val="dk2"/>
              </a:buClr>
              <a:buSzPts val="3000"/>
              <a:buNone/>
              <a:defRPr sz="3000">
                <a:solidFill>
                  <a:schemeClr val="dk2"/>
                </a:solidFill>
              </a:defRPr>
            </a:lvl3pPr>
            <a:lvl4pPr lvl="3" algn="ctr">
              <a:lnSpc>
                <a:spcPct val="100000"/>
              </a:lnSpc>
              <a:spcBef>
                <a:spcPts val="0"/>
              </a:spcBef>
              <a:spcAft>
                <a:spcPts val="0"/>
              </a:spcAft>
              <a:buClr>
                <a:schemeClr val="dk2"/>
              </a:buClr>
              <a:buSzPts val="3000"/>
              <a:buNone/>
              <a:defRPr sz="3000">
                <a:solidFill>
                  <a:schemeClr val="dk2"/>
                </a:solidFill>
              </a:defRPr>
            </a:lvl4pPr>
            <a:lvl5pPr lvl="4" algn="ctr">
              <a:lnSpc>
                <a:spcPct val="100000"/>
              </a:lnSpc>
              <a:spcBef>
                <a:spcPts val="0"/>
              </a:spcBef>
              <a:spcAft>
                <a:spcPts val="0"/>
              </a:spcAft>
              <a:buClr>
                <a:schemeClr val="dk2"/>
              </a:buClr>
              <a:buSzPts val="3000"/>
              <a:buNone/>
              <a:defRPr sz="3000">
                <a:solidFill>
                  <a:schemeClr val="dk2"/>
                </a:solidFill>
              </a:defRPr>
            </a:lvl5pPr>
            <a:lvl6pPr lvl="5" algn="ctr">
              <a:lnSpc>
                <a:spcPct val="100000"/>
              </a:lnSpc>
              <a:spcBef>
                <a:spcPts val="0"/>
              </a:spcBef>
              <a:spcAft>
                <a:spcPts val="0"/>
              </a:spcAft>
              <a:buClr>
                <a:schemeClr val="dk2"/>
              </a:buClr>
              <a:buSzPts val="3000"/>
              <a:buNone/>
              <a:defRPr sz="3000">
                <a:solidFill>
                  <a:schemeClr val="dk2"/>
                </a:solidFill>
              </a:defRPr>
            </a:lvl6pPr>
            <a:lvl7pPr lvl="6" algn="ctr">
              <a:lnSpc>
                <a:spcPct val="100000"/>
              </a:lnSpc>
              <a:spcBef>
                <a:spcPts val="0"/>
              </a:spcBef>
              <a:spcAft>
                <a:spcPts val="0"/>
              </a:spcAft>
              <a:buClr>
                <a:schemeClr val="dk2"/>
              </a:buClr>
              <a:buSzPts val="3000"/>
              <a:buNone/>
              <a:defRPr sz="3000">
                <a:solidFill>
                  <a:schemeClr val="dk2"/>
                </a:solidFill>
              </a:defRPr>
            </a:lvl7pPr>
            <a:lvl8pPr lvl="7" algn="ctr">
              <a:lnSpc>
                <a:spcPct val="100000"/>
              </a:lnSpc>
              <a:spcBef>
                <a:spcPts val="0"/>
              </a:spcBef>
              <a:spcAft>
                <a:spcPts val="0"/>
              </a:spcAft>
              <a:buClr>
                <a:schemeClr val="dk2"/>
              </a:buClr>
              <a:buSzPts val="3000"/>
              <a:buNone/>
              <a:defRPr sz="3000">
                <a:solidFill>
                  <a:schemeClr val="dk2"/>
                </a:solidFill>
              </a:defRPr>
            </a:lvl8pPr>
            <a:lvl9pPr lvl="8" algn="ctr">
              <a:lnSpc>
                <a:spcPct val="100000"/>
              </a:lnSpc>
              <a:spcBef>
                <a:spcPts val="0"/>
              </a:spcBef>
              <a:spcAft>
                <a:spcPts val="0"/>
              </a:spcAft>
              <a:buClr>
                <a:schemeClr val="dk2"/>
              </a:buClr>
              <a:buSzPts val="3000"/>
              <a:buNone/>
              <a:defRPr sz="3000">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p23"/>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13" name="Google Shape;13;p23"/>
          <p:cNvSpPr txBox="1"/>
          <p:nvPr>
            <p:ph idx="1" type="body"/>
          </p:nvPr>
        </p:nvSpPr>
        <p:spPr>
          <a:xfrm>
            <a:off x="457200" y="1200150"/>
            <a:ext cx="8229600" cy="3725700"/>
          </a:xfrm>
          <a:prstGeom prst="rect">
            <a:avLst/>
          </a:prstGeom>
          <a:noFill/>
          <a:ln>
            <a:noFill/>
          </a:ln>
        </p:spPr>
        <p:txBody>
          <a:bodyPr anchorCtr="0" anchor="t" bIns="91425" lIns="91425" spcFirstLastPara="1" rIns="91425" wrap="square" tIns="91425">
            <a:noAutofit/>
          </a:bodyPr>
          <a:lstStyle>
            <a:lvl1pPr indent="-419100" lvl="0" marL="457200" algn="l">
              <a:lnSpc>
                <a:spcPct val="100000"/>
              </a:lnSpc>
              <a:spcBef>
                <a:spcPts val="600"/>
              </a:spcBef>
              <a:spcAft>
                <a:spcPts val="0"/>
              </a:spcAft>
              <a:buSzPts val="3000"/>
              <a:buChar char="●"/>
              <a:defRPr/>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 name="Shape 14"/>
        <p:cNvGrpSpPr/>
        <p:nvPr/>
      </p:nvGrpSpPr>
      <p:grpSpPr>
        <a:xfrm>
          <a:off x="0" y="0"/>
          <a:ext cx="0" cy="0"/>
          <a:chOff x="0" y="0"/>
          <a:chExt cx="0" cy="0"/>
        </a:xfrm>
      </p:grpSpPr>
      <p:sp>
        <p:nvSpPr>
          <p:cNvPr id="15" name="Google Shape;15;p24"/>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16" name="Google Shape;16;p24"/>
          <p:cNvSpPr txBox="1"/>
          <p:nvPr>
            <p:ph idx="1" type="body"/>
          </p:nvPr>
        </p:nvSpPr>
        <p:spPr>
          <a:xfrm>
            <a:off x="457200" y="1200150"/>
            <a:ext cx="3994500" cy="3725700"/>
          </a:xfrm>
          <a:prstGeom prst="rect">
            <a:avLst/>
          </a:prstGeom>
          <a:noFill/>
          <a:ln>
            <a:noFill/>
          </a:ln>
        </p:spPr>
        <p:txBody>
          <a:bodyPr anchorCtr="0" anchor="t" bIns="91425" lIns="91425" spcFirstLastPara="1" rIns="91425" wrap="square" tIns="91425">
            <a:noAutofit/>
          </a:bodyPr>
          <a:lstStyle>
            <a:lvl1pPr indent="-419100" lvl="0" marL="457200" algn="l">
              <a:lnSpc>
                <a:spcPct val="100000"/>
              </a:lnSpc>
              <a:spcBef>
                <a:spcPts val="600"/>
              </a:spcBef>
              <a:spcAft>
                <a:spcPts val="0"/>
              </a:spcAft>
              <a:buSzPts val="3000"/>
              <a:buChar char="●"/>
              <a:defRPr/>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
        <p:nvSpPr>
          <p:cNvPr id="17" name="Google Shape;17;p24"/>
          <p:cNvSpPr txBox="1"/>
          <p:nvPr>
            <p:ph idx="2" type="body"/>
          </p:nvPr>
        </p:nvSpPr>
        <p:spPr>
          <a:xfrm>
            <a:off x="4692274" y="1200150"/>
            <a:ext cx="3994500" cy="3725700"/>
          </a:xfrm>
          <a:prstGeom prst="rect">
            <a:avLst/>
          </a:prstGeom>
          <a:noFill/>
          <a:ln>
            <a:noFill/>
          </a:ln>
        </p:spPr>
        <p:txBody>
          <a:bodyPr anchorCtr="0" anchor="t" bIns="91425" lIns="91425" spcFirstLastPara="1" rIns="91425" wrap="square" tIns="91425">
            <a:noAutofit/>
          </a:bodyPr>
          <a:lstStyle>
            <a:lvl1pPr indent="-419100" lvl="0" marL="457200" algn="l">
              <a:lnSpc>
                <a:spcPct val="100000"/>
              </a:lnSpc>
              <a:spcBef>
                <a:spcPts val="600"/>
              </a:spcBef>
              <a:spcAft>
                <a:spcPts val="0"/>
              </a:spcAft>
              <a:buSzPts val="3000"/>
              <a:buChar char="●"/>
              <a:defRPr/>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 name="Shape 18"/>
        <p:cNvGrpSpPr/>
        <p:nvPr/>
      </p:nvGrpSpPr>
      <p:grpSpPr>
        <a:xfrm>
          <a:off x="0" y="0"/>
          <a:ext cx="0" cy="0"/>
          <a:chOff x="0" y="0"/>
          <a:chExt cx="0" cy="0"/>
        </a:xfrm>
      </p:grpSpPr>
      <p:sp>
        <p:nvSpPr>
          <p:cNvPr id="19" name="Google Shape;19;p25"/>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 name="Shape 20"/>
        <p:cNvGrpSpPr/>
        <p:nvPr/>
      </p:nvGrpSpPr>
      <p:grpSpPr>
        <a:xfrm>
          <a:off x="0" y="0"/>
          <a:ext cx="0" cy="0"/>
          <a:chOff x="0" y="0"/>
          <a:chExt cx="0" cy="0"/>
        </a:xfrm>
      </p:grpSpPr>
      <p:sp>
        <p:nvSpPr>
          <p:cNvPr id="21" name="Google Shape;21;p26"/>
          <p:cNvSpPr txBox="1"/>
          <p:nvPr>
            <p:ph idx="1" type="body"/>
          </p:nvPr>
        </p:nvSpPr>
        <p:spPr>
          <a:xfrm>
            <a:off x="457200" y="4406309"/>
            <a:ext cx="8229600" cy="519600"/>
          </a:xfrm>
          <a:prstGeom prst="rect">
            <a:avLst/>
          </a:prstGeom>
          <a:noFill/>
          <a:ln>
            <a:noFill/>
          </a:ln>
        </p:spPr>
        <p:txBody>
          <a:bodyPr anchorCtr="0" anchor="t" bIns="91425" lIns="91425" spcFirstLastPara="1" rIns="91425" wrap="square" tIns="91425">
            <a:noAutofit/>
          </a:bodyPr>
          <a:lstStyle>
            <a:lvl1pPr indent="-228600" lvl="0" marL="457200" algn="ctr">
              <a:lnSpc>
                <a:spcPct val="100000"/>
              </a:lnSpc>
              <a:spcBef>
                <a:spcPts val="360"/>
              </a:spcBef>
              <a:spcAft>
                <a:spcPts val="0"/>
              </a:spcAft>
              <a:buSzPts val="1800"/>
              <a:buNone/>
              <a:defRPr sz="1800"/>
            </a:lvl1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 name="Shape 2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9pPr>
          </a:lstStyle>
          <a:p/>
        </p:txBody>
      </p:sp>
      <p:sp>
        <p:nvSpPr>
          <p:cNvPr id="7" name="Google Shape;7;p21"/>
          <p:cNvSpPr txBox="1"/>
          <p:nvPr>
            <p:ph idx="1" type="body"/>
          </p:nvPr>
        </p:nvSpPr>
        <p:spPr>
          <a:xfrm>
            <a:off x="457200" y="1200150"/>
            <a:ext cx="8229600" cy="3725700"/>
          </a:xfrm>
          <a:prstGeom prst="rect">
            <a:avLst/>
          </a:prstGeom>
          <a:noFill/>
          <a:ln>
            <a:noFill/>
          </a:ln>
        </p:spPr>
        <p:txBody>
          <a:bodyPr anchorCtr="0" anchor="t" bIns="91425" lIns="91425" spcFirstLastPara="1" rIns="91425" wrap="square" tIns="91425">
            <a:noAutofit/>
          </a:bodyPr>
          <a:lstStyle>
            <a:lvl1pPr indent="-419100" lvl="0" marL="457200" marR="0" rtl="0" algn="l">
              <a:lnSpc>
                <a:spcPct val="100000"/>
              </a:lnSpc>
              <a:spcBef>
                <a:spcPts val="600"/>
              </a:spcBef>
              <a:spcAft>
                <a:spcPts val="0"/>
              </a:spcAft>
              <a:buClr>
                <a:schemeClr val="dk1"/>
              </a:buClr>
              <a:buSzPts val="3000"/>
              <a:buFont typeface="Arial"/>
              <a:buChar char="●"/>
              <a:defRPr b="0" i="0" sz="3000" u="none" cap="none" strike="noStrike">
                <a:solidFill>
                  <a:schemeClr val="dk1"/>
                </a:solidFill>
                <a:latin typeface="Arial"/>
                <a:ea typeface="Arial"/>
                <a:cs typeface="Arial"/>
                <a:sym typeface="Arial"/>
              </a:defRPr>
            </a:lvl1pPr>
            <a:lvl2pPr indent="-381000" lvl="1" marL="9144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42900" lvl="3" marL="1828800" marR="0" rtl="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sp>
        <p:nvSpPr>
          <p:cNvPr id="27" name="Google Shape;27;p1"/>
          <p:cNvSpPr txBox="1"/>
          <p:nvPr>
            <p:ph type="ctrTitle"/>
          </p:nvPr>
        </p:nvSpPr>
        <p:spPr>
          <a:xfrm>
            <a:off x="685800" y="1583342"/>
            <a:ext cx="7772400" cy="11598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800"/>
              <a:buNone/>
            </a:pPr>
            <a:r>
              <a:rPr lang="es">
                <a:solidFill>
                  <a:schemeClr val="accent6"/>
                </a:solidFill>
              </a:rPr>
              <a:t>Procesadores</a:t>
            </a:r>
            <a:endParaRPr>
              <a:solidFill>
                <a:schemeClr val="accent6"/>
              </a:solidFill>
            </a:endParaRPr>
          </a:p>
        </p:txBody>
      </p:sp>
      <p:sp>
        <p:nvSpPr>
          <p:cNvPr id="28" name="Google Shape;28;p1"/>
          <p:cNvSpPr txBox="1"/>
          <p:nvPr>
            <p:ph idx="1" type="subTitle"/>
          </p:nvPr>
        </p:nvSpPr>
        <p:spPr>
          <a:xfrm>
            <a:off x="685800" y="2840053"/>
            <a:ext cx="7772400" cy="784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s"/>
              <a:t>definicion y clasificacion</a:t>
            </a:r>
            <a:endParaRPr/>
          </a:p>
          <a:p>
            <a:pPr indent="0" lvl="0" marL="0" rtl="0" algn="ctr">
              <a:lnSpc>
                <a:spcPct val="100000"/>
              </a:lnSpc>
              <a:spcBef>
                <a:spcPts val="0"/>
              </a:spcBef>
              <a:spcAft>
                <a:spcPts val="0"/>
              </a:spcAft>
              <a:buSzPts val="3000"/>
              <a:buNone/>
            </a:pPr>
            <a:r>
              <a:t/>
            </a:r>
            <a:endParaRPr/>
          </a:p>
          <a:p>
            <a:pPr indent="0" lvl="0" marL="0" rtl="0" algn="ctr">
              <a:lnSpc>
                <a:spcPct val="100000"/>
              </a:lnSpc>
              <a:spcBef>
                <a:spcPts val="0"/>
              </a:spcBef>
              <a:spcAft>
                <a:spcPts val="0"/>
              </a:spcAft>
              <a:buSzPts val="3000"/>
              <a:buNone/>
            </a:pPr>
            <a:r>
              <a:t/>
            </a:r>
            <a:endParaRPr/>
          </a:p>
        </p:txBody>
      </p:sp>
      <p:pic>
        <p:nvPicPr>
          <p:cNvPr id="29" name="Google Shape;29;p1"/>
          <p:cNvPicPr preferRelativeResize="0"/>
          <p:nvPr/>
        </p:nvPicPr>
        <p:blipFill rotWithShape="1">
          <a:blip r:embed="rId3">
            <a:alphaModFix/>
          </a:blip>
          <a:srcRect b="0" l="0" r="0" t="0"/>
          <a:stretch/>
        </p:blipFill>
        <p:spPr>
          <a:xfrm>
            <a:off x="1433513" y="152400"/>
            <a:ext cx="6276975" cy="495300"/>
          </a:xfrm>
          <a:prstGeom prst="rect">
            <a:avLst/>
          </a:prstGeom>
          <a:noFill/>
          <a:ln>
            <a:noFill/>
          </a:ln>
        </p:spPr>
      </p:pic>
      <p:sp>
        <p:nvSpPr>
          <p:cNvPr id="30" name="Google Shape;30;p1"/>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Tecnología de la Información</a:t>
            </a:r>
            <a:endParaRPr b="0" i="1" sz="1400" u="none" cap="none" strike="noStrike">
              <a:solidFill>
                <a:srgbClr val="000000"/>
              </a:solidFill>
              <a:latin typeface="Arial"/>
              <a:ea typeface="Arial"/>
              <a:cs typeface="Arial"/>
              <a:sym typeface="Arial"/>
            </a:endParaRPr>
          </a:p>
        </p:txBody>
      </p:sp>
      <p:sp>
        <p:nvSpPr>
          <p:cNvPr id="31" name="Google Shape;31;p1"/>
          <p:cNvSpPr txBox="1"/>
          <p:nvPr/>
        </p:nvSpPr>
        <p:spPr>
          <a:xfrm>
            <a:off x="2703300" y="4675900"/>
            <a:ext cx="3737400" cy="367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000000"/>
                </a:solidFill>
                <a:latin typeface="Arial"/>
                <a:ea typeface="Arial"/>
                <a:cs typeface="Arial"/>
                <a:sym typeface="Arial"/>
              </a:rPr>
              <a:t>PROFESOR:  LIC. HERNAN LUIS GIUDICI</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sp>
        <p:nvSpPr>
          <p:cNvPr id="36" name="Google Shape;36;p2"/>
          <p:cNvSpPr txBox="1"/>
          <p:nvPr>
            <p:ph type="ctrTitle"/>
          </p:nvPr>
        </p:nvSpPr>
        <p:spPr>
          <a:xfrm>
            <a:off x="368375" y="1058500"/>
            <a:ext cx="6403800" cy="4953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800"/>
              <a:buNone/>
            </a:pPr>
            <a:r>
              <a:rPr lang="es" sz="3600">
                <a:solidFill>
                  <a:schemeClr val="accent6"/>
                </a:solidFill>
              </a:rPr>
              <a:t>Índice de contenido:</a:t>
            </a:r>
            <a:endParaRPr sz="3600">
              <a:solidFill>
                <a:schemeClr val="accent6"/>
              </a:solidFill>
            </a:endParaRPr>
          </a:p>
        </p:txBody>
      </p:sp>
      <p:pic>
        <p:nvPicPr>
          <p:cNvPr id="37" name="Google Shape;37;p2"/>
          <p:cNvPicPr preferRelativeResize="0"/>
          <p:nvPr/>
        </p:nvPicPr>
        <p:blipFill rotWithShape="1">
          <a:blip r:embed="rId3">
            <a:alphaModFix/>
          </a:blip>
          <a:srcRect b="0" l="0" r="0" t="0"/>
          <a:stretch/>
        </p:blipFill>
        <p:spPr>
          <a:xfrm>
            <a:off x="1433513" y="152400"/>
            <a:ext cx="6276975" cy="495300"/>
          </a:xfrm>
          <a:prstGeom prst="rect">
            <a:avLst/>
          </a:prstGeom>
          <a:noFill/>
          <a:ln>
            <a:noFill/>
          </a:ln>
        </p:spPr>
      </p:pic>
      <p:sp>
        <p:nvSpPr>
          <p:cNvPr id="38" name="Google Shape;38;p2"/>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Tecnología de la Información</a:t>
            </a:r>
            <a:endParaRPr b="0" i="1" sz="1400" u="none" cap="none" strike="noStrike">
              <a:solidFill>
                <a:srgbClr val="000000"/>
              </a:solidFill>
              <a:latin typeface="Arial"/>
              <a:ea typeface="Arial"/>
              <a:cs typeface="Arial"/>
              <a:sym typeface="Arial"/>
            </a:endParaRPr>
          </a:p>
        </p:txBody>
      </p:sp>
      <p:sp>
        <p:nvSpPr>
          <p:cNvPr id="39" name="Google Shape;39;p2"/>
          <p:cNvSpPr txBox="1"/>
          <p:nvPr/>
        </p:nvSpPr>
        <p:spPr>
          <a:xfrm>
            <a:off x="2703300" y="4675900"/>
            <a:ext cx="3737400" cy="367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000000"/>
                </a:solidFill>
                <a:latin typeface="Arial"/>
                <a:ea typeface="Arial"/>
                <a:cs typeface="Arial"/>
                <a:sym typeface="Arial"/>
              </a:rPr>
              <a:t>PROFESOR:  LIC. HERNAN LUIS GIUDICI</a:t>
            </a:r>
            <a:endParaRPr b="0" i="0" sz="1200" u="none" cap="none" strike="noStrike">
              <a:solidFill>
                <a:srgbClr val="000000"/>
              </a:solidFill>
              <a:latin typeface="Arial"/>
              <a:ea typeface="Arial"/>
              <a:cs typeface="Arial"/>
              <a:sym typeface="Arial"/>
            </a:endParaRPr>
          </a:p>
        </p:txBody>
      </p:sp>
      <p:sp>
        <p:nvSpPr>
          <p:cNvPr id="40" name="Google Shape;40;p2"/>
          <p:cNvSpPr txBox="1"/>
          <p:nvPr/>
        </p:nvSpPr>
        <p:spPr>
          <a:xfrm>
            <a:off x="929550" y="1561650"/>
            <a:ext cx="7783500" cy="29745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000000"/>
              </a:buClr>
              <a:buSzPts val="1800"/>
              <a:buFont typeface="Arial"/>
              <a:buAutoNum type="arabicPeriod"/>
            </a:pPr>
            <a:r>
              <a:rPr b="0" i="0" lang="es" sz="1800" u="none" cap="none" strike="noStrike">
                <a:solidFill>
                  <a:srgbClr val="000000"/>
                </a:solidFill>
                <a:latin typeface="Arial"/>
                <a:ea typeface="Arial"/>
                <a:cs typeface="Arial"/>
                <a:sym typeface="Arial"/>
              </a:rPr>
              <a:t>Cuál es la función del procesador en un ordenador</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AutoNum type="arabicPeriod"/>
            </a:pPr>
            <a:r>
              <a:rPr b="0" i="0" lang="es" sz="1800" u="none" cap="none" strike="noStrike">
                <a:solidFill>
                  <a:srgbClr val="000000"/>
                </a:solidFill>
                <a:latin typeface="Arial"/>
                <a:ea typeface="Arial"/>
                <a:cs typeface="Arial"/>
                <a:sym typeface="Arial"/>
              </a:rPr>
              <a:t>Qué es el núcleo de un procesador</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AutoNum type="arabicPeriod"/>
            </a:pPr>
            <a:r>
              <a:rPr b="0" i="0" lang="es" sz="1800" u="none" cap="none" strike="noStrike">
                <a:solidFill>
                  <a:srgbClr val="000000"/>
                </a:solidFill>
                <a:latin typeface="Arial"/>
                <a:ea typeface="Arial"/>
                <a:cs typeface="Arial"/>
                <a:sym typeface="Arial"/>
              </a:rPr>
              <a:t>Para que sirven más núcleos</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AutoNum type="arabicPeriod"/>
            </a:pPr>
            <a:r>
              <a:rPr b="0" i="0" lang="es" sz="1800" u="none" cap="none" strike="noStrike">
                <a:solidFill>
                  <a:srgbClr val="000000"/>
                </a:solidFill>
                <a:latin typeface="Arial"/>
                <a:ea typeface="Arial"/>
                <a:cs typeface="Arial"/>
                <a:sym typeface="Arial"/>
              </a:rPr>
              <a:t>La carrera por tener más GHz</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AutoNum type="arabicPeriod"/>
            </a:pPr>
            <a:r>
              <a:rPr b="0" i="0" lang="es" sz="1800" u="none" cap="none" strike="noStrike">
                <a:solidFill>
                  <a:srgbClr val="000000"/>
                </a:solidFill>
                <a:latin typeface="Arial"/>
                <a:ea typeface="Arial"/>
                <a:cs typeface="Arial"/>
                <a:sym typeface="Arial"/>
              </a:rPr>
              <a:t>La carrera por tener más núcleos</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AutoNum type="arabicPeriod"/>
            </a:pPr>
            <a:r>
              <a:rPr b="0" i="0" lang="es" sz="1800" u="none" cap="none" strike="noStrike">
                <a:solidFill>
                  <a:srgbClr val="000000"/>
                </a:solidFill>
                <a:latin typeface="Arial"/>
                <a:ea typeface="Arial"/>
                <a:cs typeface="Arial"/>
                <a:sym typeface="Arial"/>
              </a:rPr>
              <a:t>Los primeros procesadores con más de un núcleo</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AutoNum type="arabicPeriod"/>
            </a:pPr>
            <a:r>
              <a:rPr b="0" i="0" lang="es" sz="1800" u="none" cap="none" strike="noStrike">
                <a:solidFill>
                  <a:srgbClr val="000000"/>
                </a:solidFill>
                <a:latin typeface="Arial"/>
                <a:ea typeface="Arial"/>
                <a:cs typeface="Arial"/>
                <a:sym typeface="Arial"/>
              </a:rPr>
              <a:t>Qué necesitamos para sacarle partido a los núcleos de un procesador</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AutoNum type="arabicPeriod"/>
            </a:pPr>
            <a:r>
              <a:rPr b="0" i="0" lang="es" sz="1800" u="none" cap="none" strike="noStrike">
                <a:solidFill>
                  <a:srgbClr val="000000"/>
                </a:solidFill>
                <a:latin typeface="Arial"/>
                <a:ea typeface="Arial"/>
                <a:cs typeface="Arial"/>
                <a:sym typeface="Arial"/>
              </a:rPr>
              <a:t>HyperThreading</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AutoNum type="arabicPeriod"/>
            </a:pPr>
            <a:r>
              <a:rPr b="0" i="0" lang="es" sz="1800" u="none" cap="none" strike="noStrike">
                <a:solidFill>
                  <a:srgbClr val="000000"/>
                </a:solidFill>
                <a:latin typeface="Arial"/>
                <a:ea typeface="Arial"/>
                <a:cs typeface="Arial"/>
                <a:sym typeface="Arial"/>
              </a:rPr>
              <a:t>Cómo saber cuántos núcleos tiene mi procesador</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AutoNum type="arabicPeriod"/>
            </a:pPr>
            <a:r>
              <a:rPr b="0" i="0" lang="es" sz="1800" u="none" cap="none" strike="noStrike">
                <a:solidFill>
                  <a:srgbClr val="000000"/>
                </a:solidFill>
                <a:latin typeface="Arial"/>
                <a:ea typeface="Arial"/>
                <a:cs typeface="Arial"/>
                <a:sym typeface="Arial"/>
              </a:rPr>
              <a:t>Conclusión</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3"/>
          <p:cNvSpPr txBox="1"/>
          <p:nvPr>
            <p:ph type="ctrTitle"/>
          </p:nvPr>
        </p:nvSpPr>
        <p:spPr>
          <a:xfrm>
            <a:off x="-74375" y="802525"/>
            <a:ext cx="9144000" cy="124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800"/>
              <a:buNone/>
            </a:pPr>
            <a:r>
              <a:rPr lang="es">
                <a:solidFill>
                  <a:schemeClr val="accent6"/>
                </a:solidFill>
              </a:rPr>
              <a:t>Función de un procesador</a:t>
            </a:r>
            <a:endParaRPr>
              <a:solidFill>
                <a:schemeClr val="accent6"/>
              </a:solidFill>
            </a:endParaRPr>
          </a:p>
        </p:txBody>
      </p:sp>
      <p:sp>
        <p:nvSpPr>
          <p:cNvPr id="46" name="Google Shape;46;p3"/>
          <p:cNvSpPr txBox="1"/>
          <p:nvPr>
            <p:ph idx="1" type="subTitle"/>
          </p:nvPr>
        </p:nvSpPr>
        <p:spPr>
          <a:xfrm>
            <a:off x="685800" y="1983027"/>
            <a:ext cx="7772400" cy="28260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1"/>
              </a:buClr>
              <a:buSzPts val="1100"/>
              <a:buFont typeface="Arial"/>
              <a:buNone/>
            </a:pPr>
            <a:r>
              <a:rPr lang="es" sz="1500"/>
              <a:t>El procesador, CPU o Unidad Central de procesamiento, consiste en un circuito electrónico diseñado a partir de transistores, puertas lógicas y líneas con señales eléctricas capaz de ejecutar tareas e instrucciones. Estas instrucciones son generadas mediante un programa informático y la interacción (o no) de un ser humano o incluso de otros programas. De esta forma somos capaces de realizar tareas productivas basadas en datos a través de los ordenadores.</a:t>
            </a:r>
            <a:endParaRPr sz="1500"/>
          </a:p>
          <a:p>
            <a:pPr indent="0" lvl="0" marL="0" rtl="0" algn="just">
              <a:lnSpc>
                <a:spcPct val="100000"/>
              </a:lnSpc>
              <a:spcBef>
                <a:spcPts val="0"/>
              </a:spcBef>
              <a:spcAft>
                <a:spcPts val="0"/>
              </a:spcAft>
              <a:buClr>
                <a:schemeClr val="dk1"/>
              </a:buClr>
              <a:buSzPts val="1100"/>
              <a:buFont typeface="Arial"/>
              <a:buNone/>
            </a:pPr>
            <a:r>
              <a:t/>
            </a:r>
            <a:endParaRPr sz="1500"/>
          </a:p>
          <a:p>
            <a:pPr indent="0" lvl="0" marL="0" rtl="0" algn="just">
              <a:lnSpc>
                <a:spcPct val="100000"/>
              </a:lnSpc>
              <a:spcBef>
                <a:spcPts val="0"/>
              </a:spcBef>
              <a:spcAft>
                <a:spcPts val="0"/>
              </a:spcAft>
              <a:buClr>
                <a:schemeClr val="dk1"/>
              </a:buClr>
              <a:buSzPts val="1100"/>
              <a:buFont typeface="Arial"/>
              <a:buNone/>
            </a:pPr>
            <a:r>
              <a:rPr lang="es" sz="1500"/>
              <a:t>Un ordenador y cualquier otro aparato electrónico, no se podría concebir sin la presencia de un procesador. Podrá ser más o menos complejo, pero todo dispositivo capaz de realizar una tarea concreta, necesita esta unidad para convertir las señales eléctricas en datos, e incluso en tareas físicas, como cadenas de montaje útiles para el ser humano.</a:t>
            </a:r>
            <a:endParaRPr sz="1500"/>
          </a:p>
          <a:p>
            <a:pPr indent="0" lvl="0" marL="0" rtl="0" algn="ctr">
              <a:lnSpc>
                <a:spcPct val="100000"/>
              </a:lnSpc>
              <a:spcBef>
                <a:spcPts val="0"/>
              </a:spcBef>
              <a:spcAft>
                <a:spcPts val="0"/>
              </a:spcAft>
              <a:buClr>
                <a:schemeClr val="dk1"/>
              </a:buClr>
              <a:buSzPts val="1100"/>
              <a:buFont typeface="Arial"/>
              <a:buNone/>
            </a:pPr>
            <a:r>
              <a:t/>
            </a:r>
            <a:endParaRPr sz="1000"/>
          </a:p>
          <a:p>
            <a:pPr indent="0" lvl="0" marL="0" rtl="0" algn="ctr">
              <a:lnSpc>
                <a:spcPct val="100000"/>
              </a:lnSpc>
              <a:spcBef>
                <a:spcPts val="0"/>
              </a:spcBef>
              <a:spcAft>
                <a:spcPts val="0"/>
              </a:spcAft>
              <a:buClr>
                <a:schemeClr val="dk1"/>
              </a:buClr>
              <a:buSzPts val="1100"/>
              <a:buFont typeface="Arial"/>
              <a:buNone/>
            </a:pPr>
            <a:r>
              <a:t/>
            </a:r>
            <a:endParaRPr sz="1000"/>
          </a:p>
          <a:p>
            <a:pPr indent="0" lvl="0" marL="0" rtl="0" algn="ctr">
              <a:lnSpc>
                <a:spcPct val="100000"/>
              </a:lnSpc>
              <a:spcBef>
                <a:spcPts val="0"/>
              </a:spcBef>
              <a:spcAft>
                <a:spcPts val="0"/>
              </a:spcAft>
              <a:buClr>
                <a:schemeClr val="dk1"/>
              </a:buClr>
              <a:buSzPts val="1100"/>
              <a:buFont typeface="Arial"/>
              <a:buNone/>
            </a:pPr>
            <a:r>
              <a:t/>
            </a:r>
            <a:endParaRPr sz="1000"/>
          </a:p>
          <a:p>
            <a:pPr indent="0" lvl="0" marL="0" rtl="0" algn="ctr">
              <a:lnSpc>
                <a:spcPct val="100000"/>
              </a:lnSpc>
              <a:spcBef>
                <a:spcPts val="0"/>
              </a:spcBef>
              <a:spcAft>
                <a:spcPts val="0"/>
              </a:spcAft>
              <a:buSzPts val="3000"/>
              <a:buNone/>
            </a:pPr>
            <a:r>
              <a:t/>
            </a:r>
            <a:endParaRPr sz="1000"/>
          </a:p>
        </p:txBody>
      </p:sp>
      <p:pic>
        <p:nvPicPr>
          <p:cNvPr id="47" name="Google Shape;47;p3"/>
          <p:cNvPicPr preferRelativeResize="0"/>
          <p:nvPr/>
        </p:nvPicPr>
        <p:blipFill rotWithShape="1">
          <a:blip r:embed="rId3">
            <a:alphaModFix/>
          </a:blip>
          <a:srcRect b="0" l="0" r="0" t="0"/>
          <a:stretch/>
        </p:blipFill>
        <p:spPr>
          <a:xfrm>
            <a:off x="1433513" y="152400"/>
            <a:ext cx="6276975" cy="495300"/>
          </a:xfrm>
          <a:prstGeom prst="rect">
            <a:avLst/>
          </a:prstGeom>
          <a:noFill/>
          <a:ln>
            <a:noFill/>
          </a:ln>
        </p:spPr>
      </p:pic>
      <p:sp>
        <p:nvSpPr>
          <p:cNvPr id="48" name="Google Shape;48;p3"/>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Tecnología de la Información</a:t>
            </a:r>
            <a:endParaRPr b="0" i="1"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4"/>
          <p:cNvSpPr txBox="1"/>
          <p:nvPr>
            <p:ph type="ctrTitle"/>
          </p:nvPr>
        </p:nvSpPr>
        <p:spPr>
          <a:xfrm>
            <a:off x="644625" y="997825"/>
            <a:ext cx="6481800" cy="563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lang="es" sz="3600">
                <a:solidFill>
                  <a:schemeClr val="accent6"/>
                </a:solidFill>
              </a:rPr>
              <a:t>Nucleo de un Procesador</a:t>
            </a:r>
            <a:endParaRPr sz="3600">
              <a:solidFill>
                <a:schemeClr val="accent6"/>
              </a:solidFill>
            </a:endParaRPr>
          </a:p>
        </p:txBody>
      </p:sp>
      <p:sp>
        <p:nvSpPr>
          <p:cNvPr id="54" name="Google Shape;54;p4"/>
          <p:cNvSpPr txBox="1"/>
          <p:nvPr>
            <p:ph idx="1" type="subTitle"/>
          </p:nvPr>
        </p:nvSpPr>
        <p:spPr>
          <a:xfrm>
            <a:off x="671600" y="1801675"/>
            <a:ext cx="8116500" cy="29823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3000"/>
              <a:buNone/>
            </a:pPr>
            <a:r>
              <a:rPr lang="es" sz="1500">
                <a:solidFill>
                  <a:srgbClr val="434343"/>
                </a:solidFill>
              </a:rPr>
              <a:t>Como cualquier otro componente, un procesador está formado por diferentes elementos en su interior. A esta combinación de elementos le llamamos arquitectura, como ser x86 - x64, un conjunto de códigos, parámetros y componentes electrónicos, que combinados, son capaces de llevar a cabo el cálculo de estas instrucciones simplemente haciendo operaciones lógicas y aritméticas.</a:t>
            </a:r>
            <a:br>
              <a:rPr lang="es" sz="1500">
                <a:solidFill>
                  <a:srgbClr val="434343"/>
                </a:solidFill>
              </a:rPr>
            </a:br>
            <a:endParaRPr sz="1500">
              <a:solidFill>
                <a:srgbClr val="434343"/>
              </a:solidFill>
            </a:endParaRPr>
          </a:p>
          <a:p>
            <a:pPr indent="0" lvl="0" marL="0" rtl="0" algn="just">
              <a:lnSpc>
                <a:spcPct val="100000"/>
              </a:lnSpc>
              <a:spcBef>
                <a:spcPts val="0"/>
              </a:spcBef>
              <a:spcAft>
                <a:spcPts val="0"/>
              </a:spcAft>
              <a:buClr>
                <a:srgbClr val="000000"/>
              </a:buClr>
              <a:buSzPts val="1100"/>
              <a:buFont typeface="Arial"/>
              <a:buNone/>
            </a:pPr>
            <a:r>
              <a:t/>
            </a:r>
            <a:endParaRPr sz="1500">
              <a:solidFill>
                <a:srgbClr val="434343"/>
              </a:solidFill>
            </a:endParaRPr>
          </a:p>
          <a:p>
            <a:pPr indent="0" lvl="0" marL="0" rtl="0" algn="just">
              <a:lnSpc>
                <a:spcPct val="100000"/>
              </a:lnSpc>
              <a:spcBef>
                <a:spcPts val="0"/>
              </a:spcBef>
              <a:spcAft>
                <a:spcPts val="0"/>
              </a:spcAft>
              <a:buClr>
                <a:schemeClr val="dk1"/>
              </a:buClr>
              <a:buSzPts val="1100"/>
              <a:buFont typeface="Arial"/>
              <a:buNone/>
            </a:pPr>
            <a:r>
              <a:rPr lang="es" sz="1500">
                <a:solidFill>
                  <a:srgbClr val="434343"/>
                </a:solidFill>
              </a:rPr>
              <a:t>El núcleo o core de un procesador es la unidad, o circuito integrado que se encarga de procesar toda esta información. Compuesto de millones de transistores dotados de una estructura lógica funcional, es capaz de manejar la información que entra, en forma de operandos y operadores para generar los resultados que permiten trabajar a los programas. Se trata entonces, de la entidad básica de un procesador.</a:t>
            </a:r>
            <a:br>
              <a:rPr lang="es" sz="1500">
                <a:solidFill>
                  <a:srgbClr val="434343"/>
                </a:solidFill>
              </a:rPr>
            </a:br>
            <a:endParaRPr sz="1500">
              <a:solidFill>
                <a:srgbClr val="434343"/>
              </a:solidFill>
            </a:endParaRPr>
          </a:p>
          <a:p>
            <a:pPr indent="0" lvl="0" marL="0" rtl="0" algn="ctr">
              <a:lnSpc>
                <a:spcPct val="100000"/>
              </a:lnSpc>
              <a:spcBef>
                <a:spcPts val="0"/>
              </a:spcBef>
              <a:spcAft>
                <a:spcPts val="0"/>
              </a:spcAft>
              <a:buClr>
                <a:schemeClr val="dk1"/>
              </a:buClr>
              <a:buSzPts val="1100"/>
              <a:buFont typeface="Arial"/>
              <a:buNone/>
            </a:pPr>
            <a:br>
              <a:rPr lang="es" sz="1500">
                <a:solidFill>
                  <a:srgbClr val="434343"/>
                </a:solidFill>
              </a:rPr>
            </a:br>
            <a:br>
              <a:rPr lang="es" sz="1500">
                <a:solidFill>
                  <a:srgbClr val="434343"/>
                </a:solidFill>
              </a:rPr>
            </a:br>
            <a:endParaRPr sz="1500">
              <a:solidFill>
                <a:srgbClr val="434343"/>
              </a:solidFill>
            </a:endParaRPr>
          </a:p>
        </p:txBody>
      </p:sp>
      <p:pic>
        <p:nvPicPr>
          <p:cNvPr id="55" name="Google Shape;55;p4"/>
          <p:cNvPicPr preferRelativeResize="0"/>
          <p:nvPr/>
        </p:nvPicPr>
        <p:blipFill rotWithShape="1">
          <a:blip r:embed="rId3">
            <a:alphaModFix/>
          </a:blip>
          <a:srcRect b="0" l="0" r="0" t="0"/>
          <a:stretch/>
        </p:blipFill>
        <p:spPr>
          <a:xfrm>
            <a:off x="1433513" y="152400"/>
            <a:ext cx="6276975" cy="495300"/>
          </a:xfrm>
          <a:prstGeom prst="rect">
            <a:avLst/>
          </a:prstGeom>
          <a:noFill/>
          <a:ln>
            <a:noFill/>
          </a:ln>
        </p:spPr>
      </p:pic>
      <p:sp>
        <p:nvSpPr>
          <p:cNvPr id="56" name="Google Shape;56;p4"/>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Tecnología de la Información</a:t>
            </a:r>
            <a:endParaRPr b="0" i="1"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5"/>
          <p:cNvSpPr txBox="1"/>
          <p:nvPr>
            <p:ph type="ctrTitle"/>
          </p:nvPr>
        </p:nvSpPr>
        <p:spPr>
          <a:xfrm>
            <a:off x="310000" y="1605150"/>
            <a:ext cx="7758600" cy="563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4800"/>
              <a:buFont typeface="Arial"/>
              <a:buNone/>
            </a:pPr>
            <a:br>
              <a:rPr lang="es" sz="3600">
                <a:solidFill>
                  <a:schemeClr val="accent6"/>
                </a:solidFill>
              </a:rPr>
            </a:br>
            <a:r>
              <a:rPr lang="es" sz="3600">
                <a:solidFill>
                  <a:schemeClr val="accent6"/>
                </a:solidFill>
              </a:rPr>
              <a:t>  Nucleo de un Procesador</a:t>
            </a:r>
            <a:endParaRPr sz="3600">
              <a:solidFill>
                <a:schemeClr val="accent6"/>
              </a:solidFill>
            </a:endParaRPr>
          </a:p>
          <a:p>
            <a:pPr indent="0" lvl="0" marL="0" rtl="0" algn="l">
              <a:lnSpc>
                <a:spcPct val="100000"/>
              </a:lnSpc>
              <a:spcBef>
                <a:spcPts val="0"/>
              </a:spcBef>
              <a:spcAft>
                <a:spcPts val="0"/>
              </a:spcAft>
              <a:buSzPts val="4800"/>
              <a:buNone/>
            </a:pPr>
            <a:r>
              <a:t/>
            </a:r>
            <a:endParaRPr sz="3600">
              <a:solidFill>
                <a:schemeClr val="accent6"/>
              </a:solidFill>
            </a:endParaRPr>
          </a:p>
        </p:txBody>
      </p:sp>
      <p:sp>
        <p:nvSpPr>
          <p:cNvPr id="62" name="Google Shape;62;p5"/>
          <p:cNvSpPr txBox="1"/>
          <p:nvPr>
            <p:ph idx="1" type="subTitle"/>
          </p:nvPr>
        </p:nvSpPr>
        <p:spPr>
          <a:xfrm>
            <a:off x="619850" y="1655350"/>
            <a:ext cx="8116500" cy="29505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1"/>
              </a:buClr>
              <a:buSzPts val="1100"/>
              <a:buFont typeface="Arial"/>
              <a:buNone/>
            </a:pPr>
            <a:r>
              <a:rPr lang="es" sz="1500">
                <a:solidFill>
                  <a:srgbClr val="434343"/>
                </a:solidFill>
              </a:rPr>
              <a:t>Unidad de control (UC): se encarga de dirigir de forma sincronizada el funcionamiento del procesador, en este caso del núcleo. Imparte órdenes en forma de señales eléctricas a los distintos componentes (CPU, memoria RAM, perifericos) para que trabajen de forma sincronizada.</a:t>
            </a:r>
            <a:br>
              <a:rPr lang="es" sz="1500">
                <a:solidFill>
                  <a:srgbClr val="434343"/>
                </a:solidFill>
              </a:rPr>
            </a:br>
            <a:endParaRPr sz="1500">
              <a:solidFill>
                <a:srgbClr val="434343"/>
              </a:solidFill>
            </a:endParaRPr>
          </a:p>
          <a:p>
            <a:pPr indent="0" lvl="0" marL="0" rtl="0" algn="just">
              <a:lnSpc>
                <a:spcPct val="100000"/>
              </a:lnSpc>
              <a:spcBef>
                <a:spcPts val="0"/>
              </a:spcBef>
              <a:spcAft>
                <a:spcPts val="0"/>
              </a:spcAft>
              <a:buClr>
                <a:schemeClr val="dk1"/>
              </a:buClr>
              <a:buSzPts val="1100"/>
              <a:buFont typeface="Arial"/>
              <a:buNone/>
            </a:pPr>
            <a:r>
              <a:rPr lang="es" sz="1500">
                <a:solidFill>
                  <a:srgbClr val="434343"/>
                </a:solidFill>
              </a:rPr>
              <a:t>Unidad aritmético-lógica (ALU): se encarga de realizar todas las operaciones lógicas y aritméticas con números enteros con los datos que le llegan</a:t>
            </a:r>
            <a:br>
              <a:rPr lang="es" sz="1500">
                <a:solidFill>
                  <a:srgbClr val="434343"/>
                </a:solidFill>
              </a:rPr>
            </a:br>
            <a:endParaRPr sz="1500">
              <a:solidFill>
                <a:srgbClr val="434343"/>
              </a:solidFill>
            </a:endParaRPr>
          </a:p>
          <a:p>
            <a:pPr indent="0" lvl="0" marL="0" rtl="0" algn="just">
              <a:lnSpc>
                <a:spcPct val="100000"/>
              </a:lnSpc>
              <a:spcBef>
                <a:spcPts val="0"/>
              </a:spcBef>
              <a:spcAft>
                <a:spcPts val="0"/>
              </a:spcAft>
              <a:buClr>
                <a:schemeClr val="dk1"/>
              </a:buClr>
              <a:buSzPts val="1100"/>
              <a:buFont typeface="Arial"/>
              <a:buNone/>
            </a:pPr>
            <a:r>
              <a:rPr lang="es" sz="1500">
                <a:solidFill>
                  <a:srgbClr val="434343"/>
                </a:solidFill>
              </a:rPr>
              <a:t>Registros: los registros son las celdas que permiten almacenar las instrucciones que se están ejecutando y los resultados de la operación efectuada.</a:t>
            </a:r>
            <a:endParaRPr sz="1500">
              <a:solidFill>
                <a:srgbClr val="434343"/>
              </a:solidFill>
            </a:endParaRPr>
          </a:p>
          <a:p>
            <a:pPr indent="0" lvl="0" marL="0" rtl="0" algn="l">
              <a:lnSpc>
                <a:spcPct val="100000"/>
              </a:lnSpc>
              <a:spcBef>
                <a:spcPts val="0"/>
              </a:spcBef>
              <a:spcAft>
                <a:spcPts val="0"/>
              </a:spcAft>
              <a:buClr>
                <a:schemeClr val="dk1"/>
              </a:buClr>
              <a:buSzPts val="1100"/>
              <a:buFont typeface="Arial"/>
              <a:buNone/>
            </a:pPr>
            <a:r>
              <a:t/>
            </a:r>
            <a:endParaRPr sz="1500">
              <a:solidFill>
                <a:srgbClr val="434343"/>
              </a:solidFill>
            </a:endParaRPr>
          </a:p>
          <a:p>
            <a:pPr indent="0" lvl="0" marL="0" rtl="0" algn="l">
              <a:lnSpc>
                <a:spcPct val="100000"/>
              </a:lnSpc>
              <a:spcBef>
                <a:spcPts val="0"/>
              </a:spcBef>
              <a:spcAft>
                <a:spcPts val="0"/>
              </a:spcAft>
              <a:buSzPts val="3000"/>
              <a:buNone/>
            </a:pPr>
            <a:r>
              <a:t/>
            </a:r>
            <a:endParaRPr>
              <a:solidFill>
                <a:srgbClr val="434343"/>
              </a:solidFill>
            </a:endParaRPr>
          </a:p>
        </p:txBody>
      </p:sp>
      <p:pic>
        <p:nvPicPr>
          <p:cNvPr id="63" name="Google Shape;63;p5"/>
          <p:cNvPicPr preferRelativeResize="0"/>
          <p:nvPr/>
        </p:nvPicPr>
        <p:blipFill rotWithShape="1">
          <a:blip r:embed="rId3">
            <a:alphaModFix/>
          </a:blip>
          <a:srcRect b="0" l="0" r="0" t="0"/>
          <a:stretch/>
        </p:blipFill>
        <p:spPr>
          <a:xfrm>
            <a:off x="1433513" y="152400"/>
            <a:ext cx="6276975" cy="495300"/>
          </a:xfrm>
          <a:prstGeom prst="rect">
            <a:avLst/>
          </a:prstGeom>
          <a:noFill/>
          <a:ln>
            <a:noFill/>
          </a:ln>
        </p:spPr>
      </p:pic>
      <p:sp>
        <p:nvSpPr>
          <p:cNvPr id="64" name="Google Shape;64;p5"/>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Tecnología de la Información</a:t>
            </a:r>
            <a:endParaRPr b="0" i="1"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g9374e084fb_0_12"/>
          <p:cNvSpPr txBox="1"/>
          <p:nvPr>
            <p:ph type="ctrTitle"/>
          </p:nvPr>
        </p:nvSpPr>
        <p:spPr>
          <a:xfrm>
            <a:off x="310000" y="1605150"/>
            <a:ext cx="7758600" cy="563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br>
              <a:rPr lang="es" sz="3600">
                <a:solidFill>
                  <a:schemeClr val="accent6"/>
                </a:solidFill>
              </a:rPr>
            </a:br>
            <a:r>
              <a:rPr lang="es" sz="3600">
                <a:solidFill>
                  <a:schemeClr val="accent6"/>
                </a:solidFill>
              </a:rPr>
              <a:t>  Para qué sirven mas nucleos</a:t>
            </a:r>
            <a:endParaRPr sz="3600">
              <a:solidFill>
                <a:schemeClr val="accent6"/>
              </a:solidFill>
            </a:endParaRPr>
          </a:p>
          <a:p>
            <a:pPr indent="0" lvl="0" marL="0" rtl="0" algn="l">
              <a:lnSpc>
                <a:spcPct val="100000"/>
              </a:lnSpc>
              <a:spcBef>
                <a:spcPts val="0"/>
              </a:spcBef>
              <a:spcAft>
                <a:spcPts val="0"/>
              </a:spcAft>
              <a:buSzPts val="4800"/>
              <a:buNone/>
            </a:pPr>
            <a:r>
              <a:t/>
            </a:r>
            <a:endParaRPr sz="3600">
              <a:solidFill>
                <a:schemeClr val="accent6"/>
              </a:solidFill>
            </a:endParaRPr>
          </a:p>
        </p:txBody>
      </p:sp>
      <p:sp>
        <p:nvSpPr>
          <p:cNvPr id="70" name="Google Shape;70;g9374e084fb_0_12"/>
          <p:cNvSpPr txBox="1"/>
          <p:nvPr>
            <p:ph idx="1" type="subTitle"/>
          </p:nvPr>
        </p:nvSpPr>
        <p:spPr>
          <a:xfrm>
            <a:off x="619850" y="1432250"/>
            <a:ext cx="8116500" cy="29505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100"/>
              <a:buNone/>
            </a:pPr>
            <a:r>
              <a:rPr lang="es" sz="1500">
                <a:solidFill>
                  <a:srgbClr val="434343"/>
                </a:solidFill>
              </a:rPr>
              <a:t>La carrera de los fabricantes por tener el producto más potente y más veloz siempre ha existido, y en la electrónica no es diferente. En su día, fue todo un hito conseguir crear un procesador con una frecuencia de más de 1 GHz.</a:t>
            </a:r>
            <a:br>
              <a:rPr lang="es" sz="1500">
                <a:solidFill>
                  <a:srgbClr val="434343"/>
                </a:solidFill>
              </a:rPr>
            </a:br>
            <a:br>
              <a:rPr lang="es" sz="1500">
                <a:solidFill>
                  <a:srgbClr val="434343"/>
                </a:solidFill>
              </a:rPr>
            </a:br>
            <a:r>
              <a:rPr lang="es" sz="1500">
                <a:solidFill>
                  <a:srgbClr val="434343"/>
                </a:solidFill>
              </a:rPr>
              <a:t>Los GHz miden la cantidad de operaciones que un procesador es capaz de realizar.</a:t>
            </a:r>
            <a:br>
              <a:rPr lang="es" sz="1500">
                <a:solidFill>
                  <a:srgbClr val="434343"/>
                </a:solidFill>
              </a:rPr>
            </a:br>
            <a:r>
              <a:rPr lang="es" sz="1500">
                <a:solidFill>
                  <a:srgbClr val="434343"/>
                </a:solidFill>
              </a:rPr>
              <a:t>Mientras más hercios tenga un procesador, mayor cantidad de operaciones o instrucciones podrá llevar a cabo en un segundo. De forma común también podremos llamar a esta frecuencia “velocidad de reloj”, ya que todo el sistema está sincronizado mediante la señal de un reloj para que cada ciclo dure el mismo tiempo y el traspaso de información sea perfecto.</a:t>
            </a:r>
            <a:endParaRPr sz="1500">
              <a:solidFill>
                <a:srgbClr val="434343"/>
              </a:solidFill>
            </a:endParaRPr>
          </a:p>
          <a:p>
            <a:pPr indent="0" lvl="0" marL="0" rtl="0" algn="just">
              <a:lnSpc>
                <a:spcPct val="100000"/>
              </a:lnSpc>
              <a:spcBef>
                <a:spcPts val="0"/>
              </a:spcBef>
              <a:spcAft>
                <a:spcPts val="0"/>
              </a:spcAft>
              <a:buSzPts val="3000"/>
              <a:buNone/>
            </a:pPr>
            <a:br>
              <a:rPr lang="es" sz="1500">
                <a:solidFill>
                  <a:srgbClr val="434343"/>
                </a:solidFill>
              </a:rPr>
            </a:br>
            <a:r>
              <a:rPr lang="es" sz="1500">
                <a:solidFill>
                  <a:srgbClr val="434343"/>
                </a:solidFill>
              </a:rPr>
              <a:t>El primer procesador en llegar a 1 GHz fue el DEC Alpha en 1992, pero en lo que respecta a CPU para ordenadores personales, no fue hasta 1999 cuando Intel, con su Pentium III y AMD, con su Athlon construyeron procesadores que llegaron a estas cifras. En este momento los fabricantes solo tenían una cosa en mente, “mientras más GHz mejor”, ya que más operaciones podrían llegarse a realizar por unidad de tiempo.</a:t>
            </a:r>
            <a:endParaRPr sz="1500">
              <a:solidFill>
                <a:srgbClr val="434343"/>
              </a:solidFill>
            </a:endParaRPr>
          </a:p>
        </p:txBody>
      </p:sp>
      <p:pic>
        <p:nvPicPr>
          <p:cNvPr id="71" name="Google Shape;71;g9374e084fb_0_12"/>
          <p:cNvPicPr preferRelativeResize="0"/>
          <p:nvPr/>
        </p:nvPicPr>
        <p:blipFill rotWithShape="1">
          <a:blip r:embed="rId3">
            <a:alphaModFix/>
          </a:blip>
          <a:srcRect b="0" l="0" r="0" t="0"/>
          <a:stretch/>
        </p:blipFill>
        <p:spPr>
          <a:xfrm>
            <a:off x="1433513" y="152400"/>
            <a:ext cx="6276977" cy="495300"/>
          </a:xfrm>
          <a:prstGeom prst="rect">
            <a:avLst/>
          </a:prstGeom>
          <a:noFill/>
          <a:ln>
            <a:noFill/>
          </a:ln>
        </p:spPr>
      </p:pic>
      <p:sp>
        <p:nvSpPr>
          <p:cNvPr id="72" name="Google Shape;72;g9374e084fb_0_12"/>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Tecnología de la Información</a:t>
            </a:r>
            <a:endParaRPr b="0" i="1"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g9374e084fb_0_24"/>
          <p:cNvSpPr txBox="1"/>
          <p:nvPr>
            <p:ph type="ctrTitle"/>
          </p:nvPr>
        </p:nvSpPr>
        <p:spPr>
          <a:xfrm>
            <a:off x="310000" y="1016300"/>
            <a:ext cx="7758600" cy="782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lang="es" sz="3600">
                <a:solidFill>
                  <a:schemeClr val="accent6"/>
                </a:solidFill>
              </a:rPr>
              <a:t>  Para qué sirven mas nucleos</a:t>
            </a:r>
            <a:endParaRPr sz="3600">
              <a:solidFill>
                <a:schemeClr val="accent6"/>
              </a:solidFill>
            </a:endParaRPr>
          </a:p>
          <a:p>
            <a:pPr indent="0" lvl="0" marL="0" rtl="0" algn="l">
              <a:lnSpc>
                <a:spcPct val="100000"/>
              </a:lnSpc>
              <a:spcBef>
                <a:spcPts val="0"/>
              </a:spcBef>
              <a:spcAft>
                <a:spcPts val="0"/>
              </a:spcAft>
              <a:buSzPts val="4800"/>
              <a:buNone/>
            </a:pPr>
            <a:r>
              <a:t/>
            </a:r>
            <a:endParaRPr sz="3600">
              <a:solidFill>
                <a:schemeClr val="accent6"/>
              </a:solidFill>
            </a:endParaRPr>
          </a:p>
        </p:txBody>
      </p:sp>
      <p:sp>
        <p:nvSpPr>
          <p:cNvPr id="78" name="Google Shape;78;g9374e084fb_0_24"/>
          <p:cNvSpPr txBox="1"/>
          <p:nvPr>
            <p:ph idx="1" type="subTitle"/>
          </p:nvPr>
        </p:nvSpPr>
        <p:spPr>
          <a:xfrm>
            <a:off x="632250" y="1362600"/>
            <a:ext cx="8116500" cy="29505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3000"/>
              <a:buNone/>
            </a:pPr>
            <a:r>
              <a:rPr lang="es" sz="1500">
                <a:solidFill>
                  <a:srgbClr val="434343"/>
                </a:solidFill>
              </a:rPr>
              <a:t>Pasados unos años, los fabricantes encontraron un límite en la cantidad de GHz de sus procesadores, ¿por qué? pues debido a la enorme cantidad de calor que se generaba</a:t>
            </a:r>
            <a:br>
              <a:rPr lang="es" sz="1500">
                <a:solidFill>
                  <a:srgbClr val="434343"/>
                </a:solidFill>
              </a:rPr>
            </a:br>
            <a:br>
              <a:rPr lang="es" sz="1500">
                <a:solidFill>
                  <a:srgbClr val="434343"/>
                </a:solidFill>
              </a:rPr>
            </a:br>
            <a:r>
              <a:rPr lang="es" sz="1500">
                <a:solidFill>
                  <a:srgbClr val="434343"/>
                </a:solidFill>
              </a:rPr>
              <a:t>Llegados hasta este límite, los fabricantes tuvieron que hacer un cambio de paradigma, y es así como surgió la nueva meta, “mientras más núcleos mejor”. Pensemos, si es el núcleo el encargado de hacer las operaciones, entonces aumentando el número de núcleos podremos duplicar, triplicar, … el número de operaciones que se puede hacer. </a:t>
            </a:r>
            <a:br>
              <a:rPr lang="es" sz="1500">
                <a:solidFill>
                  <a:srgbClr val="434343"/>
                </a:solidFill>
              </a:rPr>
            </a:br>
            <a:r>
              <a:rPr lang="es" sz="1500">
                <a:solidFill>
                  <a:srgbClr val="434343"/>
                </a:solidFill>
              </a:rPr>
              <a:t>Evidentemente es así, con dos núcleos podremos hacer dos operaciones a la vez, y con cuatro podremos hacer 4 de estas operaciones.</a:t>
            </a:r>
            <a:br>
              <a:rPr lang="es" sz="1500">
                <a:solidFill>
                  <a:srgbClr val="434343"/>
                </a:solidFill>
              </a:rPr>
            </a:br>
            <a:br>
              <a:rPr lang="es" sz="1500">
                <a:solidFill>
                  <a:srgbClr val="434343"/>
                </a:solidFill>
              </a:rPr>
            </a:br>
            <a:r>
              <a:rPr lang="es" sz="1500">
                <a:solidFill>
                  <a:srgbClr val="434343"/>
                </a:solidFill>
              </a:rPr>
              <a:t>Se comenzaron a implementar procesadores de doble núcleo, bien fabricando dos procesadores individuales, o mucho mejor, integrar dos DIE (circuitos) en un solo chip. Ahorrando así mucho espacio en las placas base, aunque requiriendo una mayor complejidad para la implementación de su estructura de comunicación con los demás componentes, como memoria caché, buses, etc.</a:t>
            </a:r>
            <a:endParaRPr sz="1500">
              <a:solidFill>
                <a:srgbClr val="434343"/>
              </a:solidFill>
            </a:endParaRPr>
          </a:p>
        </p:txBody>
      </p:sp>
      <p:pic>
        <p:nvPicPr>
          <p:cNvPr id="79" name="Google Shape;79;g9374e084fb_0_24"/>
          <p:cNvPicPr preferRelativeResize="0"/>
          <p:nvPr/>
        </p:nvPicPr>
        <p:blipFill rotWithShape="1">
          <a:blip r:embed="rId3">
            <a:alphaModFix/>
          </a:blip>
          <a:srcRect b="0" l="0" r="0" t="0"/>
          <a:stretch/>
        </p:blipFill>
        <p:spPr>
          <a:xfrm>
            <a:off x="1433513" y="152400"/>
            <a:ext cx="6276977" cy="495300"/>
          </a:xfrm>
          <a:prstGeom prst="rect">
            <a:avLst/>
          </a:prstGeom>
          <a:noFill/>
          <a:ln>
            <a:noFill/>
          </a:ln>
        </p:spPr>
      </p:pic>
      <p:sp>
        <p:nvSpPr>
          <p:cNvPr id="80" name="Google Shape;80;g9374e084fb_0_24"/>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Tecnología de la Información</a:t>
            </a:r>
            <a:endParaRPr b="0" i="1"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g9374e084fb_0_34"/>
          <p:cNvSpPr txBox="1"/>
          <p:nvPr>
            <p:ph type="ctrTitle"/>
          </p:nvPr>
        </p:nvSpPr>
        <p:spPr>
          <a:xfrm>
            <a:off x="-47900" y="1016300"/>
            <a:ext cx="9144000" cy="782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lang="es" sz="3600">
                <a:solidFill>
                  <a:schemeClr val="accent6"/>
                </a:solidFill>
              </a:rPr>
              <a:t>  Para qué sirven mas nucleos</a:t>
            </a:r>
            <a:endParaRPr sz="3600">
              <a:solidFill>
                <a:schemeClr val="accent6"/>
              </a:solidFill>
            </a:endParaRPr>
          </a:p>
          <a:p>
            <a:pPr indent="0" lvl="0" marL="0" rtl="0" algn="l">
              <a:lnSpc>
                <a:spcPct val="100000"/>
              </a:lnSpc>
              <a:spcBef>
                <a:spcPts val="0"/>
              </a:spcBef>
              <a:spcAft>
                <a:spcPts val="0"/>
              </a:spcAft>
              <a:buSzPts val="4800"/>
              <a:buNone/>
            </a:pPr>
            <a:r>
              <a:t/>
            </a:r>
            <a:endParaRPr sz="3600">
              <a:solidFill>
                <a:schemeClr val="accent6"/>
              </a:solidFill>
            </a:endParaRPr>
          </a:p>
        </p:txBody>
      </p:sp>
      <p:sp>
        <p:nvSpPr>
          <p:cNvPr id="86" name="Google Shape;86;g9374e084fb_0_34"/>
          <p:cNvSpPr txBox="1"/>
          <p:nvPr>
            <p:ph idx="1" type="subTitle"/>
          </p:nvPr>
        </p:nvSpPr>
        <p:spPr>
          <a:xfrm>
            <a:off x="334800" y="1226275"/>
            <a:ext cx="8116500" cy="1425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3000"/>
              <a:buNone/>
            </a:pPr>
            <a:r>
              <a:rPr lang="es" sz="1500">
                <a:solidFill>
                  <a:srgbClr val="434343"/>
                </a:solidFill>
              </a:rPr>
              <a:t>Recien en 2005 cuando surgieron los primeros procesadores dual core para consumo masivo salieron los Intel que le robó la cartera a AMD por unas semanas de adelanto con su Intel Pentium Extreme Edition 840 con HiperThreading( implementación de la tecnología multihilo simultáneo )  publicando después el AMD Athlon X2.</a:t>
            </a:r>
            <a:br>
              <a:rPr lang="es" sz="1500">
                <a:solidFill>
                  <a:srgbClr val="434343"/>
                </a:solidFill>
              </a:rPr>
            </a:br>
            <a:endParaRPr sz="1500">
              <a:solidFill>
                <a:srgbClr val="434343"/>
              </a:solidFill>
            </a:endParaRPr>
          </a:p>
        </p:txBody>
      </p:sp>
      <p:pic>
        <p:nvPicPr>
          <p:cNvPr id="87" name="Google Shape;87;g9374e084fb_0_34"/>
          <p:cNvPicPr preferRelativeResize="0"/>
          <p:nvPr/>
        </p:nvPicPr>
        <p:blipFill rotWithShape="1">
          <a:blip r:embed="rId3">
            <a:alphaModFix/>
          </a:blip>
          <a:srcRect b="0" l="0" r="0" t="0"/>
          <a:stretch/>
        </p:blipFill>
        <p:spPr>
          <a:xfrm>
            <a:off x="1433513" y="152400"/>
            <a:ext cx="6276977" cy="495300"/>
          </a:xfrm>
          <a:prstGeom prst="rect">
            <a:avLst/>
          </a:prstGeom>
          <a:noFill/>
          <a:ln>
            <a:noFill/>
          </a:ln>
        </p:spPr>
      </p:pic>
      <p:sp>
        <p:nvSpPr>
          <p:cNvPr id="88" name="Google Shape;88;g9374e084fb_0_34"/>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Tecnología de la Información</a:t>
            </a:r>
            <a:endParaRPr b="0" i="1" sz="1400" u="none" cap="none" strike="noStrike">
              <a:solidFill>
                <a:srgbClr val="000000"/>
              </a:solidFill>
              <a:latin typeface="Arial"/>
              <a:ea typeface="Arial"/>
              <a:cs typeface="Arial"/>
              <a:sym typeface="Arial"/>
            </a:endParaRPr>
          </a:p>
        </p:txBody>
      </p:sp>
      <p:sp>
        <p:nvSpPr>
          <p:cNvPr id="89" name="Google Shape;89;g9374e084fb_0_34"/>
          <p:cNvSpPr txBox="1"/>
          <p:nvPr/>
        </p:nvSpPr>
        <p:spPr>
          <a:xfrm>
            <a:off x="13" y="2167000"/>
            <a:ext cx="9144000" cy="782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s" sz="3600" u="none" cap="none" strike="noStrike">
                <a:solidFill>
                  <a:schemeClr val="accent6"/>
                </a:solidFill>
                <a:latin typeface="Arial"/>
                <a:ea typeface="Arial"/>
                <a:cs typeface="Arial"/>
                <a:sym typeface="Arial"/>
              </a:rPr>
              <a:t>Qué necesitamos para sacarle partido a los núcleos de un procesador</a:t>
            </a:r>
            <a:endParaRPr b="1" i="0" sz="3600" u="none" cap="none" strike="noStrike">
              <a:solidFill>
                <a:schemeClr val="accent6"/>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g9374e084fb_0_34"/>
          <p:cNvSpPr txBox="1"/>
          <p:nvPr/>
        </p:nvSpPr>
        <p:spPr>
          <a:xfrm>
            <a:off x="334800" y="3317700"/>
            <a:ext cx="8031300" cy="15987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La lógica parece muy sencilla, meter núcleos y aumentar la cantidad de procesos simultáneos. Pero al principio esto fue un verdadero problema para los fabricantes de hardware y sobre todo para los creadores de software.</a:t>
            </a:r>
            <a:br>
              <a:rPr b="0" i="0" lang="es" sz="1400" u="none" cap="none" strike="noStrike">
                <a:solidFill>
                  <a:srgbClr val="000000"/>
                </a:solidFill>
                <a:latin typeface="Arial"/>
                <a:ea typeface="Arial"/>
                <a:cs typeface="Arial"/>
                <a:sym typeface="Arial"/>
              </a:rPr>
            </a:br>
            <a:r>
              <a:rPr b="0" i="0" lang="es" sz="1400" u="none" cap="none" strike="noStrike">
                <a:solidFill>
                  <a:srgbClr val="000000"/>
                </a:solidFill>
                <a:latin typeface="Arial"/>
                <a:ea typeface="Arial"/>
                <a:cs typeface="Arial"/>
                <a:sym typeface="Arial"/>
              </a:rPr>
              <a:t>Y es que los programas estaban diseñados (compilados) solamente para funcionar con un núcleo. No solo necesitamos que un procesador físicamente sea capaz de hacer múltiples operaciones simultáneas, también necesitamos que el programa que genera estas instrucciones, pueda hacerlo comunicándose con cada uno de los núcleos disponibles.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g9374e084fb_0_58"/>
          <p:cNvPicPr preferRelativeResize="0"/>
          <p:nvPr/>
        </p:nvPicPr>
        <p:blipFill rotWithShape="1">
          <a:blip r:embed="rId3">
            <a:alphaModFix/>
          </a:blip>
          <a:srcRect b="0" l="0" r="0" t="0"/>
          <a:stretch/>
        </p:blipFill>
        <p:spPr>
          <a:xfrm>
            <a:off x="1433513" y="152400"/>
            <a:ext cx="6276977" cy="495300"/>
          </a:xfrm>
          <a:prstGeom prst="rect">
            <a:avLst/>
          </a:prstGeom>
          <a:noFill/>
          <a:ln>
            <a:noFill/>
          </a:ln>
        </p:spPr>
      </p:pic>
      <p:sp>
        <p:nvSpPr>
          <p:cNvPr id="96" name="Google Shape;96;g9374e084fb_0_58"/>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Tecnología de la Información</a:t>
            </a:r>
            <a:endParaRPr b="0" i="1" sz="1400" u="none" cap="none" strike="noStrike">
              <a:solidFill>
                <a:srgbClr val="000000"/>
              </a:solidFill>
              <a:latin typeface="Arial"/>
              <a:ea typeface="Arial"/>
              <a:cs typeface="Arial"/>
              <a:sym typeface="Arial"/>
            </a:endParaRPr>
          </a:p>
        </p:txBody>
      </p:sp>
      <p:pic>
        <p:nvPicPr>
          <p:cNvPr id="97" name="Google Shape;97;g9374e084fb_0_58"/>
          <p:cNvPicPr preferRelativeResize="0"/>
          <p:nvPr/>
        </p:nvPicPr>
        <p:blipFill rotWithShape="1">
          <a:blip r:embed="rId4">
            <a:alphaModFix/>
          </a:blip>
          <a:srcRect b="0" l="0" r="0" t="0"/>
          <a:stretch/>
        </p:blipFill>
        <p:spPr>
          <a:xfrm>
            <a:off x="1959800" y="834075"/>
            <a:ext cx="4307250" cy="3788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g9374e084fb_0_68"/>
          <p:cNvPicPr preferRelativeResize="0"/>
          <p:nvPr/>
        </p:nvPicPr>
        <p:blipFill rotWithShape="1">
          <a:blip r:embed="rId3">
            <a:alphaModFix/>
          </a:blip>
          <a:srcRect b="0" l="0" r="0" t="0"/>
          <a:stretch/>
        </p:blipFill>
        <p:spPr>
          <a:xfrm>
            <a:off x="1433513" y="152400"/>
            <a:ext cx="6276977" cy="495300"/>
          </a:xfrm>
          <a:prstGeom prst="rect">
            <a:avLst/>
          </a:prstGeom>
          <a:noFill/>
          <a:ln>
            <a:noFill/>
          </a:ln>
        </p:spPr>
      </p:pic>
      <p:sp>
        <p:nvSpPr>
          <p:cNvPr id="103" name="Google Shape;103;g9374e084fb_0_68"/>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Tecnología de la Información</a:t>
            </a:r>
            <a:endParaRPr b="0" i="1" sz="1400" u="none" cap="none" strike="noStrike">
              <a:solidFill>
                <a:srgbClr val="000000"/>
              </a:solidFill>
              <a:latin typeface="Arial"/>
              <a:ea typeface="Arial"/>
              <a:cs typeface="Arial"/>
              <a:sym typeface="Arial"/>
            </a:endParaRPr>
          </a:p>
        </p:txBody>
      </p:sp>
      <p:sp>
        <p:nvSpPr>
          <p:cNvPr id="104" name="Google Shape;104;g9374e084fb_0_68"/>
          <p:cNvSpPr txBox="1"/>
          <p:nvPr/>
        </p:nvSpPr>
        <p:spPr>
          <a:xfrm>
            <a:off x="0" y="704525"/>
            <a:ext cx="9144000" cy="782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s" sz="3600" u="none" cap="none" strike="noStrike">
                <a:solidFill>
                  <a:schemeClr val="accent6"/>
                </a:solidFill>
                <a:latin typeface="Arial"/>
                <a:ea typeface="Arial"/>
                <a:cs typeface="Arial"/>
                <a:sym typeface="Arial"/>
              </a:rPr>
              <a:t>Qué necesitamos para sacarle partido a los núcleos de un procesador</a:t>
            </a:r>
            <a:endParaRPr b="1" i="0" sz="3600" u="none" cap="none" strike="noStrike">
              <a:solidFill>
                <a:schemeClr val="accent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g9374e084fb_0_68"/>
          <p:cNvSpPr txBox="1"/>
          <p:nvPr/>
        </p:nvSpPr>
        <p:spPr>
          <a:xfrm>
            <a:off x="345750" y="1834300"/>
            <a:ext cx="8452500" cy="29580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Incluso los sistemas operativos tuvieron que cambiar su arquitectura para ser capaces de utilizar de forma eficiente varios núcleos de forma simultánea.</a:t>
            </a:r>
            <a:br>
              <a:rPr b="0" i="0" lang="es" sz="1400" u="none" cap="none" strike="noStrike">
                <a:solidFill>
                  <a:srgbClr val="000000"/>
                </a:solidFill>
                <a:latin typeface="Arial"/>
                <a:ea typeface="Arial"/>
                <a:cs typeface="Arial"/>
                <a:sym typeface="Arial"/>
              </a:rPr>
            </a:br>
            <a:br>
              <a:rPr b="0" i="0" lang="es" sz="1400" u="none" cap="none" strike="noStrike">
                <a:solidFill>
                  <a:srgbClr val="000000"/>
                </a:solidFill>
                <a:latin typeface="Arial"/>
                <a:ea typeface="Arial"/>
                <a:cs typeface="Arial"/>
                <a:sym typeface="Arial"/>
              </a:rPr>
            </a:br>
            <a:r>
              <a:rPr b="0" i="0" lang="es" sz="1400" u="none" cap="none" strike="noStrike">
                <a:solidFill>
                  <a:srgbClr val="000000"/>
                </a:solidFill>
                <a:latin typeface="Arial"/>
                <a:ea typeface="Arial"/>
                <a:cs typeface="Arial"/>
                <a:sym typeface="Arial"/>
              </a:rPr>
              <a:t>De esta forma, los programadores se pusieron manos a la obra y comenzaron a compilar los nuevos programas con soporte multinúcleo, de forma que actualmente, un programa es capaz de utilizar de forma eficiente todos los núcleos que haya disponibles en el ordenador. Multiplicando así los hilos de ejecución a la cantidad necesaria. Porque si, además de núcleos, también apareció el concepto de hilo de ejecución.</a:t>
            </a:r>
            <a:br>
              <a:rPr b="0" i="0" lang="es" sz="1400" u="none" cap="none" strike="noStrike">
                <a:solidFill>
                  <a:srgbClr val="000000"/>
                </a:solidFill>
                <a:latin typeface="Arial"/>
                <a:ea typeface="Arial"/>
                <a:cs typeface="Arial"/>
                <a:sym typeface="Arial"/>
              </a:rPr>
            </a:br>
            <a:br>
              <a:rPr b="0" i="0" lang="es" sz="1400" u="none" cap="none" strike="noStrike">
                <a:solidFill>
                  <a:srgbClr val="000000"/>
                </a:solidFill>
                <a:latin typeface="Arial"/>
                <a:ea typeface="Arial"/>
                <a:cs typeface="Arial"/>
                <a:sym typeface="Arial"/>
              </a:rPr>
            </a:br>
            <a:r>
              <a:rPr b="0" i="0" lang="es" sz="1400" u="none" cap="none" strike="noStrike">
                <a:solidFill>
                  <a:srgbClr val="000000"/>
                </a:solidFill>
                <a:latin typeface="Arial"/>
                <a:ea typeface="Arial"/>
                <a:cs typeface="Arial"/>
                <a:sym typeface="Arial"/>
              </a:rPr>
              <a:t>En un </a:t>
            </a:r>
            <a:r>
              <a:rPr b="1" i="0" lang="es" sz="1400" u="none" cap="none" strike="noStrike">
                <a:solidFill>
                  <a:srgbClr val="000000"/>
                </a:solidFill>
                <a:latin typeface="Arial"/>
                <a:ea typeface="Arial"/>
                <a:cs typeface="Arial"/>
                <a:sym typeface="Arial"/>
              </a:rPr>
              <a:t>procesador multinúcleo es fundamental la paralelización de los procesos</a:t>
            </a:r>
            <a:r>
              <a:rPr b="0" i="0" lang="es" sz="1400" u="none" cap="none" strike="noStrike">
                <a:solidFill>
                  <a:srgbClr val="000000"/>
                </a:solidFill>
                <a:latin typeface="Arial"/>
                <a:ea typeface="Arial"/>
                <a:cs typeface="Arial"/>
                <a:sym typeface="Arial"/>
              </a:rPr>
              <a:t> que ejecuta un programa, esto implica que cada núcleo consigue ejecutar una tarea de forma paralela a otro, y de forma consecutiva, una detrás de otra. A este método de crear distintas tareas de forma simultánea de un programa, se le llama hilos de procesos, hilos de trabajo, subprocesos o simplemente Threads en inglés. Tanto el sistema operativo como los programas, deben ser capaces de crear hilos de procesos paralelos para aprovechar toda la potencia del procesador.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g9374e084fb_0_81"/>
          <p:cNvPicPr preferRelativeResize="0"/>
          <p:nvPr/>
        </p:nvPicPr>
        <p:blipFill rotWithShape="1">
          <a:blip r:embed="rId3">
            <a:alphaModFix/>
          </a:blip>
          <a:srcRect b="0" l="0" r="0" t="0"/>
          <a:stretch/>
        </p:blipFill>
        <p:spPr>
          <a:xfrm>
            <a:off x="1433513" y="152400"/>
            <a:ext cx="6276977" cy="495300"/>
          </a:xfrm>
          <a:prstGeom prst="rect">
            <a:avLst/>
          </a:prstGeom>
          <a:noFill/>
          <a:ln>
            <a:noFill/>
          </a:ln>
        </p:spPr>
      </p:pic>
      <p:sp>
        <p:nvSpPr>
          <p:cNvPr id="111" name="Google Shape;111;g9374e084fb_0_81"/>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Tecnología de la Información</a:t>
            </a:r>
            <a:endParaRPr b="0" i="1" sz="1400" u="none" cap="none" strike="noStrike">
              <a:solidFill>
                <a:srgbClr val="000000"/>
              </a:solidFill>
              <a:latin typeface="Arial"/>
              <a:ea typeface="Arial"/>
              <a:cs typeface="Arial"/>
              <a:sym typeface="Arial"/>
            </a:endParaRPr>
          </a:p>
        </p:txBody>
      </p:sp>
      <p:sp>
        <p:nvSpPr>
          <p:cNvPr id="112" name="Google Shape;112;g9374e084fb_0_81"/>
          <p:cNvSpPr txBox="1"/>
          <p:nvPr/>
        </p:nvSpPr>
        <p:spPr>
          <a:xfrm>
            <a:off x="0" y="704525"/>
            <a:ext cx="9144000" cy="782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s" sz="3600" u="none" cap="none" strike="noStrike">
                <a:solidFill>
                  <a:schemeClr val="accent6"/>
                </a:solidFill>
                <a:latin typeface="Arial"/>
                <a:ea typeface="Arial"/>
                <a:cs typeface="Arial"/>
                <a:sym typeface="Arial"/>
              </a:rPr>
              <a:t>  Hilos de ejecución - núcleos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g9374e084fb_0_81"/>
          <p:cNvSpPr txBox="1"/>
          <p:nvPr/>
        </p:nvSpPr>
        <p:spPr>
          <a:xfrm>
            <a:off x="345750" y="1412900"/>
            <a:ext cx="8452500" cy="29580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En consecuencia de lo anterior, aparecen las tecnologías propias de los fabricantes de procesadores. La más famosa entre ellas es el HyperThreading que Intel comenzó a utilizar en sus procesadores, y más tarde lo haría AMD en los suyos con la tecnología CMT primero, y luego con una evolución a SMT (Simultaneous Multi-Threading).</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Esta tecnología consiste en la existencia de dos núcleos en uno solo, pero no serán núcleos reales, sino lógicos, algo que en programación se denomina hilos de procesamiento o threads. Ya hemos hablado antes de ello. La idea es dividir, una vez más, la carga de trabajo entre núcleos segmentando cada una de las tareas a realizar en subprocesos para que se vayan ejecutando cuando un núcleo esté libre.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Existen procesadores que cuentan con solo dos núcleos, por ejemplo, pero tienen 4 threads gracias a estas tecnologías. Intel la utiliza principalmente en sus procesadores de alto rendimiento Intel Core y en las CPU de los portátiles, mientras que AMD la ha implementado en toda su gama de procesadores Ryzen.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g9374e084fb_0_91"/>
          <p:cNvPicPr preferRelativeResize="0"/>
          <p:nvPr/>
        </p:nvPicPr>
        <p:blipFill rotWithShape="1">
          <a:blip r:embed="rId3">
            <a:alphaModFix/>
          </a:blip>
          <a:srcRect b="0" l="0" r="0" t="0"/>
          <a:stretch/>
        </p:blipFill>
        <p:spPr>
          <a:xfrm>
            <a:off x="1433513" y="152400"/>
            <a:ext cx="6276977" cy="495300"/>
          </a:xfrm>
          <a:prstGeom prst="rect">
            <a:avLst/>
          </a:prstGeom>
          <a:noFill/>
          <a:ln>
            <a:noFill/>
          </a:ln>
        </p:spPr>
      </p:pic>
      <p:sp>
        <p:nvSpPr>
          <p:cNvPr id="119" name="Google Shape;119;g9374e084fb_0_91"/>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Tecnología de la Información</a:t>
            </a:r>
            <a:endParaRPr b="0" i="1" sz="1400" u="none" cap="none" strike="noStrike">
              <a:solidFill>
                <a:srgbClr val="000000"/>
              </a:solidFill>
              <a:latin typeface="Arial"/>
              <a:ea typeface="Arial"/>
              <a:cs typeface="Arial"/>
              <a:sym typeface="Arial"/>
            </a:endParaRPr>
          </a:p>
        </p:txBody>
      </p:sp>
      <p:sp>
        <p:nvSpPr>
          <p:cNvPr id="120" name="Google Shape;120;g9374e084fb_0_91"/>
          <p:cNvSpPr txBox="1"/>
          <p:nvPr/>
        </p:nvSpPr>
        <p:spPr>
          <a:xfrm>
            <a:off x="0" y="704525"/>
            <a:ext cx="9144000" cy="782100"/>
          </a:xfrm>
          <a:prstGeom prst="rect">
            <a:avLst/>
          </a:prstGeom>
          <a:noFill/>
          <a:ln>
            <a:noFill/>
          </a:ln>
        </p:spPr>
        <p:txBody>
          <a:bodyPr anchorCtr="0" anchor="t" bIns="91425" lIns="91425" spcFirstLastPara="1" rIns="91425" wrap="square" tIns="91425">
            <a:noAutofit/>
          </a:bodyPr>
          <a:lstStyle/>
          <a:p>
            <a:pPr indent="0" lvl="0" marL="457200" marR="0" rtl="0" algn="l">
              <a:lnSpc>
                <a:spcPct val="100000"/>
              </a:lnSpc>
              <a:spcBef>
                <a:spcPts val="0"/>
              </a:spcBef>
              <a:spcAft>
                <a:spcPts val="0"/>
              </a:spcAft>
              <a:buClr>
                <a:srgbClr val="000000"/>
              </a:buClr>
              <a:buSzPts val="3600"/>
              <a:buFont typeface="Arial"/>
              <a:buNone/>
            </a:pPr>
            <a:r>
              <a:rPr b="1" i="0" lang="es" sz="3600" u="none" cap="none" strike="noStrike">
                <a:solidFill>
                  <a:schemeClr val="accent6"/>
                </a:solidFill>
                <a:latin typeface="Arial"/>
                <a:ea typeface="Arial"/>
                <a:cs typeface="Arial"/>
                <a:sym typeface="Arial"/>
              </a:rPr>
              <a:t>Cómo saber cuantos nucleos tiene mi procesador</a:t>
            </a:r>
            <a:endParaRPr b="1" i="0" sz="3600" u="none" cap="none" strike="noStrike">
              <a:solidFill>
                <a:schemeClr val="accent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g9374e084fb_0_91"/>
          <p:cNvSpPr txBox="1"/>
          <p:nvPr/>
        </p:nvSpPr>
        <p:spPr>
          <a:xfrm>
            <a:off x="345750" y="1919125"/>
            <a:ext cx="8452500" cy="29580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Ya sabemos qué son los núcleos y qué son los hilos y su importancia para un procesador multinúcleo. Así que lo último que nos queda es saber cómo saber cuántos núcleos tiene nuestro procesador.</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br>
              <a:rPr b="0" i="0" lang="es" sz="1400" u="none" cap="none" strike="noStrike">
                <a:solidFill>
                  <a:srgbClr val="000000"/>
                </a:solidFill>
                <a:latin typeface="Arial"/>
                <a:ea typeface="Arial"/>
                <a:cs typeface="Arial"/>
                <a:sym typeface="Arial"/>
              </a:rPr>
            </a:br>
            <a:r>
              <a:rPr b="0" i="0" lang="es" sz="1400" u="none" cap="none" strike="noStrike">
                <a:solidFill>
                  <a:srgbClr val="000000"/>
                </a:solidFill>
                <a:latin typeface="Arial"/>
                <a:ea typeface="Arial"/>
                <a:cs typeface="Arial"/>
                <a:sym typeface="Arial"/>
              </a:rPr>
              <a:t>Windows a veces no diferencia entre núcleos e hilos, ya que aparecerán con el nombre de núcleos o procesadores, por ejemplo en la herramienta “msiconfig”. </a:t>
            </a:r>
            <a:br>
              <a:rPr b="0" i="0" lang="es" sz="1400" u="none" cap="none" strike="noStrike">
                <a:solidFill>
                  <a:srgbClr val="000000"/>
                </a:solidFill>
                <a:latin typeface="Arial"/>
                <a:ea typeface="Arial"/>
                <a:cs typeface="Arial"/>
                <a:sym typeface="Arial"/>
              </a:rPr>
            </a:br>
            <a:br>
              <a:rPr b="0" i="0" lang="es" sz="1400" u="none" cap="none" strike="noStrike">
                <a:solidFill>
                  <a:srgbClr val="000000"/>
                </a:solidFill>
                <a:latin typeface="Arial"/>
                <a:ea typeface="Arial"/>
                <a:cs typeface="Arial"/>
                <a:sym typeface="Arial"/>
              </a:rPr>
            </a:br>
            <a:r>
              <a:rPr b="0" i="0" lang="es" sz="1400" u="none" cap="none" strike="noStrike">
                <a:solidFill>
                  <a:srgbClr val="000000"/>
                </a:solidFill>
                <a:latin typeface="Arial"/>
                <a:ea typeface="Arial"/>
                <a:cs typeface="Arial"/>
                <a:sym typeface="Arial"/>
              </a:rPr>
              <a:t>Si abrimos el Administrador de tareas, y nos dirigimos al apartado de rendimiento, podremos ver una lista en donde aparece el recuento de núcleos y de procesadores lógicos de la CPU. Pero las gráficas que se nos mostrarán serán directamente la de los núcleos lógicos, al igual que las que aparecen en el Monitor de rendimiento si lo abrimos.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g9374e084fb_0_100"/>
          <p:cNvPicPr preferRelativeResize="0"/>
          <p:nvPr/>
        </p:nvPicPr>
        <p:blipFill rotWithShape="1">
          <a:blip r:embed="rId3">
            <a:alphaModFix/>
          </a:blip>
          <a:srcRect b="0" l="0" r="0" t="0"/>
          <a:stretch/>
        </p:blipFill>
        <p:spPr>
          <a:xfrm>
            <a:off x="1433513" y="152400"/>
            <a:ext cx="6276977" cy="495300"/>
          </a:xfrm>
          <a:prstGeom prst="rect">
            <a:avLst/>
          </a:prstGeom>
          <a:noFill/>
          <a:ln>
            <a:noFill/>
          </a:ln>
        </p:spPr>
      </p:pic>
      <p:sp>
        <p:nvSpPr>
          <p:cNvPr id="127" name="Google Shape;127;g9374e084fb_0_100"/>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Tecnología de la Información</a:t>
            </a:r>
            <a:endParaRPr b="0" i="1" sz="1400" u="none" cap="none" strike="noStrike">
              <a:solidFill>
                <a:srgbClr val="000000"/>
              </a:solidFill>
              <a:latin typeface="Arial"/>
              <a:ea typeface="Arial"/>
              <a:cs typeface="Arial"/>
              <a:sym typeface="Arial"/>
            </a:endParaRPr>
          </a:p>
        </p:txBody>
      </p:sp>
      <p:pic>
        <p:nvPicPr>
          <p:cNvPr id="128" name="Google Shape;128;g9374e084fb_0_100"/>
          <p:cNvPicPr preferRelativeResize="0"/>
          <p:nvPr/>
        </p:nvPicPr>
        <p:blipFill rotWithShape="1">
          <a:blip r:embed="rId4">
            <a:alphaModFix/>
          </a:blip>
          <a:srcRect b="0" l="0" r="0" t="0"/>
          <a:stretch/>
        </p:blipFill>
        <p:spPr>
          <a:xfrm>
            <a:off x="1581000" y="737575"/>
            <a:ext cx="5632301" cy="41395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type="ctrTitle"/>
          </p:nvPr>
        </p:nvSpPr>
        <p:spPr>
          <a:xfrm>
            <a:off x="685813" y="976017"/>
            <a:ext cx="7772400" cy="11598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800"/>
              <a:buNone/>
            </a:pPr>
            <a:r>
              <a:rPr lang="es">
                <a:solidFill>
                  <a:schemeClr val="accent6"/>
                </a:solidFill>
              </a:rPr>
              <a:t>Conclusión</a:t>
            </a:r>
            <a:endParaRPr>
              <a:solidFill>
                <a:schemeClr val="accent6"/>
              </a:solidFill>
            </a:endParaRPr>
          </a:p>
        </p:txBody>
      </p:sp>
      <p:sp>
        <p:nvSpPr>
          <p:cNvPr id="134" name="Google Shape;134;p20"/>
          <p:cNvSpPr txBox="1"/>
          <p:nvPr>
            <p:ph idx="1" type="subTitle"/>
          </p:nvPr>
        </p:nvSpPr>
        <p:spPr>
          <a:xfrm>
            <a:off x="685800" y="2206126"/>
            <a:ext cx="7772400" cy="21813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3000"/>
              <a:buNone/>
            </a:pPr>
            <a:r>
              <a:rPr lang="es" sz="1500"/>
              <a:t>En la actualidad existen verdaderos monstruos con hasta 32 núcleos y 64 threads. Pero para que un procesador sea eficaz, no solo es importante la cantidad de núcleos y su frecuencia, sino también cómo esté construido, la eficiencia de sus buses de datos y la comunicación y la forma de trabajar de sus núcleos.</a:t>
            </a:r>
            <a:endParaRPr sz="1500"/>
          </a:p>
        </p:txBody>
      </p:sp>
      <p:pic>
        <p:nvPicPr>
          <p:cNvPr id="135" name="Google Shape;135;p20"/>
          <p:cNvPicPr preferRelativeResize="0"/>
          <p:nvPr/>
        </p:nvPicPr>
        <p:blipFill rotWithShape="1">
          <a:blip r:embed="rId3">
            <a:alphaModFix/>
          </a:blip>
          <a:srcRect b="0" l="0" r="0" t="0"/>
          <a:stretch/>
        </p:blipFill>
        <p:spPr>
          <a:xfrm>
            <a:off x="1433513" y="152400"/>
            <a:ext cx="6276975" cy="495300"/>
          </a:xfrm>
          <a:prstGeom prst="rect">
            <a:avLst/>
          </a:prstGeom>
          <a:noFill/>
          <a:ln>
            <a:noFill/>
          </a:ln>
        </p:spPr>
      </p:pic>
      <p:sp>
        <p:nvSpPr>
          <p:cNvPr id="136" name="Google Shape;136;p20"/>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Tecnología de la Información</a:t>
            </a:r>
            <a:endParaRPr b="0" i="1" sz="1400" u="none" cap="none" strike="noStrike">
              <a:solidFill>
                <a:srgbClr val="000000"/>
              </a:solidFill>
              <a:latin typeface="Arial"/>
              <a:ea typeface="Arial"/>
              <a:cs typeface="Arial"/>
              <a:sym typeface="Arial"/>
            </a:endParaRPr>
          </a:p>
        </p:txBody>
      </p:sp>
      <p:sp>
        <p:nvSpPr>
          <p:cNvPr id="137" name="Google Shape;137;p20"/>
          <p:cNvSpPr txBox="1"/>
          <p:nvPr/>
        </p:nvSpPr>
        <p:spPr>
          <a:xfrm>
            <a:off x="2703300" y="4675900"/>
            <a:ext cx="3737400" cy="367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000000"/>
                </a:solidFill>
                <a:latin typeface="Arial"/>
                <a:ea typeface="Arial"/>
                <a:cs typeface="Arial"/>
                <a:sym typeface="Arial"/>
              </a:rPr>
              <a:t>PROFESOR:  LIC. HERNAN LUIS GIUDICI</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
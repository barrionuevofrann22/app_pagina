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es-AR" dirty="0" err="1" smtClean="0"/>
              <a:t>Object</a:t>
            </a:r>
            <a:r>
              <a:rPr lang="es-AR" dirty="0" smtClean="0"/>
              <a:t> </a:t>
            </a:r>
            <a:r>
              <a:rPr lang="es-AR" dirty="0" err="1" smtClean="0"/>
              <a:t>pronouns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s-AR" dirty="0" err="1" smtClean="0"/>
              <a:t>Always</a:t>
            </a:r>
            <a:r>
              <a:rPr lang="es-AR" dirty="0" smtClean="0"/>
              <a:t> </a:t>
            </a:r>
            <a:r>
              <a:rPr lang="es-AR" dirty="0" err="1" smtClean="0"/>
              <a:t>go</a:t>
            </a:r>
            <a:r>
              <a:rPr lang="es-AR" dirty="0" smtClean="0"/>
              <a:t> </a:t>
            </a:r>
            <a:r>
              <a:rPr lang="es-AR" dirty="0" err="1" smtClean="0"/>
              <a:t>after</a:t>
            </a:r>
            <a:r>
              <a:rPr lang="es-AR" dirty="0" smtClean="0"/>
              <a:t> </a:t>
            </a:r>
            <a:r>
              <a:rPr lang="es-AR" dirty="0" err="1" smtClean="0"/>
              <a:t>the</a:t>
            </a:r>
            <a:r>
              <a:rPr lang="es-AR" dirty="0" smtClean="0"/>
              <a:t> </a:t>
            </a:r>
            <a:r>
              <a:rPr lang="es-AR" dirty="0" err="1" smtClean="0"/>
              <a:t>verb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5340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 smtClean="0"/>
              <a:t>Personal </a:t>
            </a:r>
            <a:r>
              <a:rPr lang="es-AR" dirty="0" err="1" smtClean="0"/>
              <a:t>pronouns</a:t>
            </a:r>
            <a:r>
              <a:rPr lang="es-AR" dirty="0" smtClean="0"/>
              <a:t> and </a:t>
            </a:r>
            <a:r>
              <a:rPr lang="es-AR" dirty="0" err="1" smtClean="0"/>
              <a:t>object</a:t>
            </a:r>
            <a:r>
              <a:rPr lang="es-AR" dirty="0" smtClean="0"/>
              <a:t> </a:t>
            </a:r>
            <a:r>
              <a:rPr lang="es-AR" dirty="0" err="1" smtClean="0"/>
              <a:t>pronouns</a:t>
            </a:r>
            <a:endParaRPr lang="es-AR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7380926"/>
              </p:ext>
            </p:extLst>
          </p:nvPr>
        </p:nvGraphicFramePr>
        <p:xfrm>
          <a:off x="1450975" y="2016125"/>
          <a:ext cx="9604376" cy="2966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802188">
                  <a:extLst>
                    <a:ext uri="{9D8B030D-6E8A-4147-A177-3AD203B41FA5}">
                      <a16:colId xmlns:a16="http://schemas.microsoft.com/office/drawing/2014/main" val="1958552052"/>
                    </a:ext>
                  </a:extLst>
                </a:gridCol>
                <a:gridCol w="4802188">
                  <a:extLst>
                    <a:ext uri="{9D8B030D-6E8A-4147-A177-3AD203B41FA5}">
                      <a16:colId xmlns:a16="http://schemas.microsoft.com/office/drawing/2014/main" val="403341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Personal</a:t>
                      </a:r>
                      <a:r>
                        <a:rPr lang="es-AR" baseline="0" dirty="0" smtClean="0"/>
                        <a:t> </a:t>
                      </a:r>
                      <a:r>
                        <a:rPr lang="es-AR" baseline="0" dirty="0" err="1" smtClean="0"/>
                        <a:t>Pronouns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Object</a:t>
                      </a:r>
                      <a:r>
                        <a:rPr lang="es-AR" dirty="0" smtClean="0"/>
                        <a:t> </a:t>
                      </a:r>
                      <a:r>
                        <a:rPr lang="es-AR" dirty="0" err="1" smtClean="0"/>
                        <a:t>Pronouns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753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I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7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You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9549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He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HIM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8961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She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HER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7328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It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0463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We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552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They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THEM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0934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919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4173881"/>
          </a:xfrm>
        </p:spPr>
        <p:txBody>
          <a:bodyPr/>
          <a:lstStyle/>
          <a:p>
            <a:r>
              <a:rPr lang="es-AR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</a:t>
            </a:r>
            <a:r>
              <a:rPr lang="es-AR" dirty="0" smtClean="0"/>
              <a:t>:</a:t>
            </a:r>
            <a:br>
              <a:rPr lang="es-AR" dirty="0" smtClean="0"/>
            </a:br>
            <a:r>
              <a:rPr lang="es-AR" dirty="0"/>
              <a:t/>
            </a:r>
            <a:br>
              <a:rPr lang="es-AR" dirty="0"/>
            </a:br>
            <a:r>
              <a:rPr lang="es-AR" dirty="0" smtClean="0"/>
              <a:t/>
            </a:r>
            <a:br>
              <a:rPr lang="es-AR" dirty="0" smtClean="0"/>
            </a:br>
            <a:r>
              <a:rPr lang="es-AR" dirty="0" smtClean="0">
                <a:solidFill>
                  <a:srgbClr val="00B050"/>
                </a:solidFill>
              </a:rPr>
              <a:t>WE</a:t>
            </a:r>
            <a:r>
              <a:rPr lang="es-AR" dirty="0" smtClean="0"/>
              <a:t> </a:t>
            </a:r>
            <a:r>
              <a:rPr lang="es-AR" dirty="0" err="1" smtClean="0"/>
              <a:t>arrive</a:t>
            </a:r>
            <a:r>
              <a:rPr lang="es-AR" dirty="0" smtClean="0"/>
              <a:t> home at 5 P.m.</a:t>
            </a:r>
            <a:br>
              <a:rPr lang="es-AR" dirty="0" smtClean="0"/>
            </a:br>
            <a:r>
              <a:rPr lang="es-AR" dirty="0"/>
              <a:t/>
            </a:r>
            <a:br>
              <a:rPr lang="es-AR" dirty="0"/>
            </a:br>
            <a:r>
              <a:rPr lang="es-AR" dirty="0" smtClean="0"/>
              <a:t>Andy </a:t>
            </a:r>
            <a:r>
              <a:rPr lang="es-AR" dirty="0" err="1" smtClean="0"/>
              <a:t>tells</a:t>
            </a:r>
            <a:r>
              <a:rPr lang="es-AR" dirty="0" smtClean="0"/>
              <a:t> </a:t>
            </a:r>
            <a:r>
              <a:rPr lang="es-AR" dirty="0" err="1" smtClean="0">
                <a:solidFill>
                  <a:schemeClr val="accent2">
                    <a:lumMod val="75000"/>
                  </a:schemeClr>
                </a:solidFill>
              </a:rPr>
              <a:t>him</a:t>
            </a:r>
            <a:r>
              <a:rPr lang="es-AR" dirty="0" smtClean="0"/>
              <a:t> a </a:t>
            </a:r>
            <a:r>
              <a:rPr lang="es-AR" dirty="0" err="1" smtClean="0"/>
              <a:t>secret</a:t>
            </a:r>
            <a:r>
              <a:rPr lang="es-AR" dirty="0" smtClean="0"/>
              <a:t>.</a:t>
            </a:r>
            <a:br>
              <a:rPr lang="es-AR" dirty="0" smtClean="0"/>
            </a:br>
            <a:r>
              <a:rPr lang="es-AR" dirty="0"/>
              <a:t/>
            </a:r>
            <a:br>
              <a:rPr lang="es-AR" dirty="0"/>
            </a:br>
            <a:r>
              <a:rPr lang="es-AR" dirty="0" smtClean="0"/>
              <a:t/>
            </a:r>
            <a:br>
              <a:rPr lang="es-AR" dirty="0" smtClean="0"/>
            </a:br>
            <a:r>
              <a:rPr lang="es-AR" dirty="0" err="1" smtClean="0">
                <a:solidFill>
                  <a:srgbClr val="00B050"/>
                </a:solidFill>
              </a:rPr>
              <a:t>They</a:t>
            </a:r>
            <a:r>
              <a:rPr lang="es-AR" dirty="0" smtClean="0"/>
              <a:t> Listen to </a:t>
            </a:r>
            <a:r>
              <a:rPr lang="es-AR" dirty="0" err="1" smtClean="0">
                <a:solidFill>
                  <a:schemeClr val="accent2">
                    <a:lumMod val="75000"/>
                  </a:schemeClr>
                </a:solidFill>
              </a:rPr>
              <a:t>her</a:t>
            </a:r>
            <a:r>
              <a:rPr lang="es-AR" dirty="0" smtClean="0"/>
              <a:t> in </a:t>
            </a:r>
            <a:r>
              <a:rPr lang="es-AR" dirty="0" err="1" smtClean="0"/>
              <a:t>the</a:t>
            </a:r>
            <a:r>
              <a:rPr lang="es-AR" dirty="0" smtClean="0"/>
              <a:t> </a:t>
            </a:r>
            <a:r>
              <a:rPr lang="es-AR" dirty="0" err="1" smtClean="0"/>
              <a:t>classroom</a:t>
            </a:r>
            <a:r>
              <a:rPr lang="es-AR" dirty="0" smtClean="0"/>
              <a:t>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701720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POSSESSIVE PRONOUNS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51579" y="3046246"/>
            <a:ext cx="9603275" cy="161283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USED </a:t>
            </a:r>
            <a:r>
              <a:rPr lang="en-US" sz="2800" dirty="0"/>
              <a:t>TO INDICATE POSSESSION. </a:t>
            </a:r>
            <a:endParaRPr lang="en-US" sz="2800" dirty="0" smtClean="0"/>
          </a:p>
          <a:p>
            <a:r>
              <a:rPr lang="en-US" sz="2800" dirty="0" smtClean="0"/>
              <a:t>THEY </a:t>
            </a:r>
            <a:r>
              <a:rPr lang="en-US" sz="2800" dirty="0"/>
              <a:t>ARE NOT FOLLOWED BY A </a:t>
            </a:r>
            <a:r>
              <a:rPr lang="en-US" sz="2800" dirty="0" smtClean="0"/>
              <a:t>NOUN.</a:t>
            </a: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16509576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5029" y="804519"/>
            <a:ext cx="10009825" cy="1049235"/>
          </a:xfrm>
        </p:spPr>
        <p:txBody>
          <a:bodyPr/>
          <a:lstStyle/>
          <a:p>
            <a:r>
              <a:rPr lang="es-AR" dirty="0" err="1" smtClean="0"/>
              <a:t>Possessive</a:t>
            </a:r>
            <a:r>
              <a:rPr lang="es-AR" dirty="0" smtClean="0"/>
              <a:t> </a:t>
            </a:r>
            <a:r>
              <a:rPr lang="es-AR" dirty="0" err="1" smtClean="0"/>
              <a:t>adjectives</a:t>
            </a:r>
            <a:r>
              <a:rPr lang="es-AR" dirty="0" smtClean="0"/>
              <a:t> and </a:t>
            </a:r>
            <a:r>
              <a:rPr lang="es-AR" dirty="0" err="1" smtClean="0"/>
              <a:t>possessive</a:t>
            </a:r>
            <a:r>
              <a:rPr lang="es-AR" dirty="0" smtClean="0"/>
              <a:t> </a:t>
            </a:r>
            <a:r>
              <a:rPr lang="es-AR" dirty="0" err="1"/>
              <a:t>pronouns</a:t>
            </a:r>
            <a:endParaRPr lang="es-AR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757303"/>
              </p:ext>
            </p:extLst>
          </p:nvPr>
        </p:nvGraphicFramePr>
        <p:xfrm>
          <a:off x="1044575" y="2016125"/>
          <a:ext cx="960437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2188">
                  <a:extLst>
                    <a:ext uri="{9D8B030D-6E8A-4147-A177-3AD203B41FA5}">
                      <a16:colId xmlns:a16="http://schemas.microsoft.com/office/drawing/2014/main" val="683561027"/>
                    </a:ext>
                  </a:extLst>
                </a:gridCol>
                <a:gridCol w="4802188">
                  <a:extLst>
                    <a:ext uri="{9D8B030D-6E8A-4147-A177-3AD203B41FA5}">
                      <a16:colId xmlns:a16="http://schemas.microsoft.com/office/drawing/2014/main" val="33559263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POSSESSIVE ADJECTIVES</a:t>
                      </a:r>
                      <a:endParaRPr lang="es-AR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Berlin Sans FB Demi" panose="020E0802020502020306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POSSESSIVE PRONOUNS</a:t>
                      </a:r>
                      <a:endParaRPr lang="es-AR" sz="2000" dirty="0">
                        <a:effectLst/>
                        <a:latin typeface="Berlin Sans FB Demi" panose="020E0802020502020306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279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MY</a:t>
                      </a:r>
                      <a:endParaRPr lang="es-AR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Berlin Sans FB Demi" panose="020E0802020502020306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MINE</a:t>
                      </a:r>
                      <a:endParaRPr lang="es-AR" sz="2000" dirty="0">
                        <a:effectLst/>
                        <a:latin typeface="Berlin Sans FB Demi" panose="020E0802020502020306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7444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YOUR</a:t>
                      </a:r>
                      <a:endParaRPr lang="es-AR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Berlin Sans FB Demi" panose="020E0802020502020306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YOURS</a:t>
                      </a:r>
                      <a:endParaRPr lang="es-AR" sz="2000" dirty="0">
                        <a:effectLst/>
                        <a:latin typeface="Berlin Sans FB Demi" panose="020E0802020502020306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21347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HIS</a:t>
                      </a:r>
                      <a:endParaRPr lang="es-AR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Berlin Sans FB Demi" panose="020E0802020502020306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HIS</a:t>
                      </a:r>
                      <a:endParaRPr lang="es-AR" sz="2000" dirty="0">
                        <a:effectLst/>
                        <a:latin typeface="Berlin Sans FB Demi" panose="020E0802020502020306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19020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HER</a:t>
                      </a:r>
                      <a:endParaRPr lang="es-AR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Berlin Sans FB Demi" panose="020E0802020502020306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HERS</a:t>
                      </a:r>
                      <a:endParaRPr lang="es-AR" sz="2000" dirty="0">
                        <a:effectLst/>
                        <a:latin typeface="Berlin Sans FB Demi" panose="020E0802020502020306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69337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ITS</a:t>
                      </a:r>
                      <a:endParaRPr lang="es-AR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Berlin Sans FB Demi" panose="020E0802020502020306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s-AR" sz="2000" dirty="0">
                        <a:effectLst/>
                        <a:latin typeface="Berlin Sans FB Demi" panose="020E0802020502020306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24277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OUR</a:t>
                      </a:r>
                      <a:endParaRPr lang="es-AR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Berlin Sans FB Demi" panose="020E0802020502020306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OURS</a:t>
                      </a:r>
                      <a:endParaRPr lang="es-AR" sz="2000" dirty="0">
                        <a:effectLst/>
                        <a:latin typeface="Berlin Sans FB Demi" panose="020E0802020502020306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1513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THEIR</a:t>
                      </a:r>
                      <a:endParaRPr lang="es-AR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Berlin Sans FB Demi" panose="020E0802020502020306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THEIRS</a:t>
                      </a:r>
                      <a:endParaRPr lang="es-AR" sz="2000" dirty="0">
                        <a:effectLst/>
                        <a:latin typeface="Berlin Sans FB Demi" panose="020E0802020502020306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76930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584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</a:t>
            </a:r>
            <a:r>
              <a:rPr lang="es-AR" dirty="0"/>
              <a:t>: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AR" sz="3600" dirty="0" err="1" smtClean="0">
                <a:solidFill>
                  <a:srgbClr val="00B0F0"/>
                </a:solidFill>
              </a:rPr>
              <a:t>My</a:t>
            </a:r>
            <a:r>
              <a:rPr lang="es-AR" sz="3600" dirty="0" smtClean="0"/>
              <a:t> notebook </a:t>
            </a:r>
            <a:r>
              <a:rPr lang="es-AR" sz="3600" dirty="0" err="1" smtClean="0"/>
              <a:t>is</a:t>
            </a:r>
            <a:r>
              <a:rPr lang="es-AR" sz="3600" dirty="0" smtClean="0"/>
              <a:t> a TOSHIBA.</a:t>
            </a:r>
          </a:p>
          <a:p>
            <a:pPr marL="0" indent="0">
              <a:buNone/>
            </a:pPr>
            <a:r>
              <a:rPr lang="es-AR" sz="3600" dirty="0" err="1" smtClean="0"/>
              <a:t>That</a:t>
            </a:r>
            <a:r>
              <a:rPr lang="es-AR" sz="3600" dirty="0" smtClean="0"/>
              <a:t> </a:t>
            </a:r>
            <a:r>
              <a:rPr lang="es-AR" sz="3600" dirty="0" err="1" smtClean="0"/>
              <a:t>bike</a:t>
            </a:r>
            <a:r>
              <a:rPr lang="es-AR" sz="3600" dirty="0" smtClean="0"/>
              <a:t> </a:t>
            </a:r>
            <a:r>
              <a:rPr lang="es-AR" sz="3600" dirty="0" err="1" smtClean="0"/>
              <a:t>is</a:t>
            </a:r>
            <a:r>
              <a:rPr lang="es-AR" sz="3600" dirty="0" smtClean="0"/>
              <a:t> </a:t>
            </a:r>
            <a:r>
              <a:rPr lang="es-AR" sz="3600" i="1" dirty="0" err="1" smtClean="0">
                <a:solidFill>
                  <a:srgbClr val="FF3300"/>
                </a:solidFill>
              </a:rPr>
              <a:t>hers</a:t>
            </a:r>
            <a:r>
              <a:rPr lang="es-AR" sz="3600" dirty="0" smtClean="0"/>
              <a:t>.</a:t>
            </a:r>
          </a:p>
          <a:p>
            <a:pPr marL="0" indent="0">
              <a:buNone/>
            </a:pPr>
            <a:endParaRPr lang="es-AR" sz="3600" dirty="0"/>
          </a:p>
          <a:p>
            <a:pPr marL="0" indent="0">
              <a:buNone/>
            </a:pPr>
            <a:r>
              <a:rPr lang="es-AR" sz="3600" dirty="0" err="1" smtClean="0"/>
              <a:t>It</a:t>
            </a:r>
            <a:r>
              <a:rPr lang="es-AR" sz="3600" dirty="0" smtClean="0"/>
              <a:t> </a:t>
            </a:r>
            <a:r>
              <a:rPr lang="es-AR" sz="3600" dirty="0" err="1" smtClean="0"/>
              <a:t>is</a:t>
            </a:r>
            <a:r>
              <a:rPr lang="es-AR" sz="3600" dirty="0" smtClean="0"/>
              <a:t> </a:t>
            </a:r>
            <a:r>
              <a:rPr lang="es-AR" sz="3600" dirty="0" err="1" smtClean="0"/>
              <a:t>not</a:t>
            </a:r>
            <a:r>
              <a:rPr lang="es-AR" sz="3600" dirty="0" smtClean="0"/>
              <a:t> </a:t>
            </a:r>
            <a:r>
              <a:rPr lang="es-AR" sz="3600" dirty="0" err="1" smtClean="0">
                <a:solidFill>
                  <a:srgbClr val="00B0F0"/>
                </a:solidFill>
              </a:rPr>
              <a:t>your</a:t>
            </a:r>
            <a:r>
              <a:rPr lang="es-AR" sz="3600" dirty="0" smtClean="0"/>
              <a:t> </a:t>
            </a:r>
            <a:r>
              <a:rPr lang="es-AR" sz="3600" dirty="0" err="1" smtClean="0"/>
              <a:t>keyboard</a:t>
            </a:r>
            <a:r>
              <a:rPr lang="es-AR" sz="3600" dirty="0" smtClean="0"/>
              <a:t>. </a:t>
            </a:r>
            <a:r>
              <a:rPr lang="es-AR" sz="3600" dirty="0" err="1" smtClean="0"/>
              <a:t>It´s</a:t>
            </a:r>
            <a:r>
              <a:rPr lang="es-AR" sz="3600" dirty="0" smtClean="0"/>
              <a:t> </a:t>
            </a:r>
            <a:r>
              <a:rPr lang="es-AR" sz="3600" i="1" dirty="0">
                <a:solidFill>
                  <a:srgbClr val="FF3300"/>
                </a:solidFill>
              </a:rPr>
              <a:t>mine</a:t>
            </a:r>
            <a:r>
              <a:rPr lang="es-AR" sz="3600" dirty="0" smtClean="0"/>
              <a:t>.</a:t>
            </a:r>
            <a:endParaRPr lang="es-AR" sz="3600" dirty="0"/>
          </a:p>
        </p:txBody>
      </p:sp>
    </p:spTree>
    <p:extLst>
      <p:ext uri="{BB962C8B-B14F-4D97-AF65-F5344CB8AC3E}">
        <p14:creationId xmlns:p14="http://schemas.microsoft.com/office/powerpoint/2010/main" val="3178336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92</Words>
  <Application>Microsoft Office PowerPoint</Application>
  <PresentationFormat>Panorámica</PresentationFormat>
  <Paragraphs>45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Berlin Sans FB Demi</vt:lpstr>
      <vt:lpstr>Calibri</vt:lpstr>
      <vt:lpstr>Gill Sans MT</vt:lpstr>
      <vt:lpstr>Times New Roman</vt:lpstr>
      <vt:lpstr>Gallery</vt:lpstr>
      <vt:lpstr>Object pronouns</vt:lpstr>
      <vt:lpstr>Personal pronouns and object pronouns</vt:lpstr>
      <vt:lpstr>Examples:   WE arrive home at 5 P.m.  Andy tells him a secret.   They Listen to her in the classroom.</vt:lpstr>
      <vt:lpstr>POSSESSIVE PRONOUNS</vt:lpstr>
      <vt:lpstr>Possessive adjectives and possessive pronouns</vt:lpstr>
      <vt:lpstr>Examples: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pronouns</dc:title>
  <dc:creator>Mipc</dc:creator>
  <cp:lastModifiedBy>Mipc</cp:lastModifiedBy>
  <cp:revision>6</cp:revision>
  <dcterms:created xsi:type="dcterms:W3CDTF">2021-05-26T00:10:24Z</dcterms:created>
  <dcterms:modified xsi:type="dcterms:W3CDTF">2021-05-26T01:07:04Z</dcterms:modified>
</cp:coreProperties>
</file>